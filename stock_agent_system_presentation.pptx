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303520" cy="685800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03520" y="0"/>
            <a:ext cx="36576" cy="6858000"/>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10972800" cy="914400"/>
          </a:xfrm>
          <a:prstGeom prst="rect">
            <a:avLst/>
          </a:prstGeom>
          <a:noFill/>
        </p:spPr>
        <p:txBody>
          <a:bodyPr wrap="square">
            <a:spAutoFit/>
          </a:bodyPr>
          <a:lstStyle/>
          <a:p>
            <a:pPr algn="l"/>
            <a:r>
              <a:rPr sz="5200" b="1">
                <a:solidFill>
                  <a:srgbClr val="FFFFFF"/>
                </a:solidFill>
              </a:rPr>
              <a:t>Multi-Agent</a:t>
            </a:r>
          </a:p>
        </p:txBody>
      </p:sp>
      <p:sp>
        <p:nvSpPr>
          <p:cNvPr id="6" name="TextBox 5"/>
          <p:cNvSpPr txBox="1"/>
          <p:nvPr/>
        </p:nvSpPr>
        <p:spPr>
          <a:xfrm>
            <a:off x="365760" y="1828800"/>
            <a:ext cx="10972800" cy="822960"/>
          </a:xfrm>
          <a:prstGeom prst="rect">
            <a:avLst/>
          </a:prstGeom>
          <a:noFill/>
        </p:spPr>
        <p:txBody>
          <a:bodyPr wrap="square">
            <a:spAutoFit/>
          </a:bodyPr>
          <a:lstStyle/>
          <a:p>
            <a:pPr algn="l"/>
            <a:r>
              <a:rPr sz="4000" b="1">
                <a:solidFill>
                  <a:srgbClr val="00C2FF"/>
                </a:solidFill>
              </a:rPr>
              <a:t>Stock Analysis System</a:t>
            </a:r>
          </a:p>
        </p:txBody>
      </p:sp>
      <p:sp>
        <p:nvSpPr>
          <p:cNvPr id="7" name="TextBox 6"/>
          <p:cNvSpPr txBox="1"/>
          <p:nvPr/>
        </p:nvSpPr>
        <p:spPr>
          <a:xfrm>
            <a:off x="365760" y="2788920"/>
            <a:ext cx="10972800" cy="640080"/>
          </a:xfrm>
          <a:prstGeom prst="rect">
            <a:avLst/>
          </a:prstGeom>
          <a:noFill/>
        </p:spPr>
        <p:txBody>
          <a:bodyPr wrap="square">
            <a:spAutoFit/>
          </a:bodyPr>
          <a:lstStyle/>
          <a:p>
            <a:pPr algn="l"/>
            <a:r>
              <a:rPr sz="1500" b="0">
                <a:solidFill>
                  <a:srgbClr val="7EC8E3"/>
                </a:solidFill>
              </a:rPr>
              <a:t>How AI agents collaborate to analyze stocks, evaluate decisions,
and execute paper trades</a:t>
            </a:r>
          </a:p>
        </p:txBody>
      </p:sp>
      <p:sp>
        <p:nvSpPr>
          <p:cNvPr id="8" name="Rectangle 7"/>
          <p:cNvSpPr/>
          <p:nvPr/>
        </p:nvSpPr>
        <p:spPr>
          <a:xfrm>
            <a:off x="365760" y="3520440"/>
            <a:ext cx="4389120"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3703320"/>
            <a:ext cx="8229600" cy="365760"/>
          </a:xfrm>
          <a:prstGeom prst="rect">
            <a:avLst/>
          </a:prstGeom>
          <a:noFill/>
        </p:spPr>
        <p:txBody>
          <a:bodyPr wrap="square">
            <a:spAutoFit/>
          </a:bodyPr>
          <a:lstStyle/>
          <a:p>
            <a:pPr algn="l"/>
            <a:r>
              <a:rPr sz="1400" b="0">
                <a:solidFill>
                  <a:srgbClr val="B0C4D8"/>
                </a:solidFill>
              </a:rPr>
              <a:t>SEN4018 — Semester Project</a:t>
            </a:r>
          </a:p>
        </p:txBody>
      </p:sp>
      <p:sp>
        <p:nvSpPr>
          <p:cNvPr id="10" name="TextBox 9"/>
          <p:cNvSpPr txBox="1"/>
          <p:nvPr/>
        </p:nvSpPr>
        <p:spPr>
          <a:xfrm>
            <a:off x="365760" y="4114800"/>
            <a:ext cx="8229600" cy="365760"/>
          </a:xfrm>
          <a:prstGeom prst="rect">
            <a:avLst/>
          </a:prstGeom>
          <a:noFill/>
        </p:spPr>
        <p:txBody>
          <a:bodyPr wrap="square">
            <a:spAutoFit/>
          </a:bodyPr>
          <a:lstStyle/>
          <a:p>
            <a:pPr algn="l"/>
            <a:r>
              <a:rPr sz="1300" b="0">
                <a:solidFill>
                  <a:srgbClr val="B0C4D8"/>
                </a:solidFill>
              </a:rPr>
              <a:t>LangGraph  ·  FastAPI  ·  Vue 3  ·  Alpaca  ·  pgvector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Project Overview</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Why agents? Why not just ask one LLM?</a:t>
            </a:r>
          </a:p>
        </p:txBody>
      </p:sp>
      <p:sp>
        <p:nvSpPr>
          <p:cNvPr id="6" name="Rectangle 5"/>
          <p:cNvSpPr/>
          <p:nvPr/>
        </p:nvSpPr>
        <p:spPr>
          <a:xfrm>
            <a:off x="274320" y="1097280"/>
            <a:ext cx="3749039" cy="2468880"/>
          </a:xfrm>
          <a:prstGeom prst="rect">
            <a:avLst/>
          </a:prstGeom>
          <a:solidFill>
            <a:srgbClr val="162A3D"/>
          </a:solidFill>
          <a:ln w="12700">
            <a:solidFill>
              <a:srgbClr val="FF4E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88720"/>
            <a:ext cx="3474719" cy="365760"/>
          </a:xfrm>
          <a:prstGeom prst="rect">
            <a:avLst/>
          </a:prstGeom>
          <a:noFill/>
        </p:spPr>
        <p:txBody>
          <a:bodyPr wrap="square">
            <a:spAutoFit/>
          </a:bodyPr>
          <a:lstStyle/>
          <a:p>
            <a:pPr algn="l"/>
            <a:r>
              <a:rPr sz="1500" b="1">
                <a:solidFill>
                  <a:srgbClr val="FF4E6A"/>
                </a:solidFill>
              </a:rPr>
              <a:t>The Problem</a:t>
            </a:r>
          </a:p>
        </p:txBody>
      </p:sp>
      <p:sp>
        <p:nvSpPr>
          <p:cNvPr id="8" name="TextBox 7"/>
          <p:cNvSpPr txBox="1"/>
          <p:nvPr/>
        </p:nvSpPr>
        <p:spPr>
          <a:xfrm>
            <a:off x="457200" y="1572768"/>
            <a:ext cx="3383279" cy="260603"/>
          </a:xfrm>
          <a:prstGeom prst="rect">
            <a:avLst/>
          </a:prstGeom>
          <a:noFill/>
        </p:spPr>
        <p:txBody>
          <a:bodyPr wrap="square">
            <a:spAutoFit/>
          </a:bodyPr>
          <a:lstStyle/>
          <a:p>
            <a:pPr algn="l"/>
            <a:r>
              <a:rPr sz="1300" b="0">
                <a:solidFill>
                  <a:srgbClr val="B0C4D8"/>
                </a:solidFill>
              </a:rPr>
              <a:t>Asking a single LLM 'Should I buy this stock?'</a:t>
            </a:r>
          </a:p>
        </p:txBody>
      </p:sp>
      <p:sp>
        <p:nvSpPr>
          <p:cNvPr id="9" name="TextBox 8"/>
          <p:cNvSpPr txBox="1"/>
          <p:nvPr/>
        </p:nvSpPr>
        <p:spPr>
          <a:xfrm>
            <a:off x="457200" y="1833371"/>
            <a:ext cx="3383279" cy="260603"/>
          </a:xfrm>
          <a:prstGeom prst="rect">
            <a:avLst/>
          </a:prstGeom>
          <a:noFill/>
        </p:spPr>
        <p:txBody>
          <a:bodyPr wrap="square">
            <a:spAutoFit/>
          </a:bodyPr>
          <a:lstStyle/>
          <a:p>
            <a:pPr algn="l"/>
            <a:r>
              <a:rPr sz="1300" b="0">
                <a:solidFill>
                  <a:srgbClr val="B0C4D8"/>
                </a:solidFill>
              </a:rPr>
              <a:t/>
            </a:r>
          </a:p>
        </p:txBody>
      </p:sp>
      <p:sp>
        <p:nvSpPr>
          <p:cNvPr id="10" name="TextBox 9"/>
          <p:cNvSpPr txBox="1"/>
          <p:nvPr/>
        </p:nvSpPr>
        <p:spPr>
          <a:xfrm>
            <a:off x="457200" y="2093974"/>
            <a:ext cx="3383279" cy="260603"/>
          </a:xfrm>
          <a:prstGeom prst="rect">
            <a:avLst/>
          </a:prstGeom>
          <a:noFill/>
        </p:spPr>
        <p:txBody>
          <a:bodyPr wrap="square">
            <a:spAutoFit/>
          </a:bodyPr>
          <a:lstStyle/>
          <a:p>
            <a:pPr algn="l"/>
            <a:r>
              <a:rPr sz="1300" b="0">
                <a:solidFill>
                  <a:srgbClr val="B0C4D8"/>
                </a:solidFill>
              </a:rPr>
              <a:t>  •  No way to audit which data it used</a:t>
            </a:r>
          </a:p>
        </p:txBody>
      </p:sp>
      <p:sp>
        <p:nvSpPr>
          <p:cNvPr id="11" name="TextBox 10"/>
          <p:cNvSpPr txBox="1"/>
          <p:nvPr/>
        </p:nvSpPr>
        <p:spPr>
          <a:xfrm>
            <a:off x="457200" y="2354577"/>
            <a:ext cx="3383279" cy="260603"/>
          </a:xfrm>
          <a:prstGeom prst="rect">
            <a:avLst/>
          </a:prstGeom>
          <a:noFill/>
        </p:spPr>
        <p:txBody>
          <a:bodyPr wrap="square">
            <a:spAutoFit/>
          </a:bodyPr>
          <a:lstStyle/>
          <a:p>
            <a:pPr algn="l"/>
            <a:r>
              <a:rPr sz="1300" b="0">
                <a:solidFill>
                  <a:srgbClr val="B0C4D8"/>
                </a:solidFill>
              </a:rPr>
              <a:t>  •  Hallucinations are hidden inside one reply</a:t>
            </a:r>
          </a:p>
        </p:txBody>
      </p:sp>
      <p:sp>
        <p:nvSpPr>
          <p:cNvPr id="12" name="TextBox 11"/>
          <p:cNvSpPr txBox="1"/>
          <p:nvPr/>
        </p:nvSpPr>
        <p:spPr>
          <a:xfrm>
            <a:off x="457200" y="2615180"/>
            <a:ext cx="3383279" cy="260603"/>
          </a:xfrm>
          <a:prstGeom prst="rect">
            <a:avLst/>
          </a:prstGeom>
          <a:noFill/>
        </p:spPr>
        <p:txBody>
          <a:bodyPr wrap="square">
            <a:spAutoFit/>
          </a:bodyPr>
          <a:lstStyle/>
          <a:p>
            <a:pPr algn="l"/>
            <a:r>
              <a:rPr sz="1300" b="0">
                <a:solidFill>
                  <a:srgbClr val="B0C4D8"/>
                </a:solidFill>
              </a:rPr>
              <a:t>  •  One error affects the entire output</a:t>
            </a:r>
          </a:p>
        </p:txBody>
      </p:sp>
      <p:sp>
        <p:nvSpPr>
          <p:cNvPr id="13" name="TextBox 12"/>
          <p:cNvSpPr txBox="1"/>
          <p:nvPr/>
        </p:nvSpPr>
        <p:spPr>
          <a:xfrm>
            <a:off x="457200" y="2875783"/>
            <a:ext cx="3383279" cy="260603"/>
          </a:xfrm>
          <a:prstGeom prst="rect">
            <a:avLst/>
          </a:prstGeom>
          <a:noFill/>
        </p:spPr>
        <p:txBody>
          <a:bodyPr wrap="square">
            <a:spAutoFit/>
          </a:bodyPr>
          <a:lstStyle/>
          <a:p>
            <a:pPr algn="l"/>
            <a:r>
              <a:rPr sz="1300" b="0">
                <a:solidFill>
                  <a:srgbClr val="B0C4D8"/>
                </a:solidFill>
              </a:rPr>
              <a:t>  •  Impossible to test or improve in isolation</a:t>
            </a:r>
          </a:p>
        </p:txBody>
      </p:sp>
      <p:sp>
        <p:nvSpPr>
          <p:cNvPr id="14" name="TextBox 13"/>
          <p:cNvSpPr txBox="1"/>
          <p:nvPr/>
        </p:nvSpPr>
        <p:spPr>
          <a:xfrm>
            <a:off x="4114800" y="2103120"/>
            <a:ext cx="640080" cy="548640"/>
          </a:xfrm>
          <a:prstGeom prst="rect">
            <a:avLst/>
          </a:prstGeom>
          <a:noFill/>
        </p:spPr>
        <p:txBody>
          <a:bodyPr wrap="square">
            <a:spAutoFit/>
          </a:bodyPr>
          <a:lstStyle/>
          <a:p>
            <a:pPr algn="ctr"/>
            <a:r>
              <a:rPr sz="3600" b="1">
                <a:solidFill>
                  <a:srgbClr val="00C2FF"/>
                </a:solidFill>
              </a:rPr>
              <a:t>→</a:t>
            </a:r>
          </a:p>
        </p:txBody>
      </p:sp>
      <p:sp>
        <p:nvSpPr>
          <p:cNvPr id="15" name="Rectangle 14"/>
          <p:cNvSpPr/>
          <p:nvPr/>
        </p:nvSpPr>
        <p:spPr>
          <a:xfrm>
            <a:off x="4846320" y="1097280"/>
            <a:ext cx="4114800" cy="246888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1188720"/>
            <a:ext cx="3840480" cy="365760"/>
          </a:xfrm>
          <a:prstGeom prst="rect">
            <a:avLst/>
          </a:prstGeom>
          <a:noFill/>
        </p:spPr>
        <p:txBody>
          <a:bodyPr wrap="square">
            <a:spAutoFit/>
          </a:bodyPr>
          <a:lstStyle/>
          <a:p>
            <a:pPr algn="l"/>
            <a:r>
              <a:rPr sz="1500" b="1">
                <a:solidFill>
                  <a:srgbClr val="00E596"/>
                </a:solidFill>
              </a:rPr>
              <a:t>The Solution</a:t>
            </a:r>
          </a:p>
        </p:txBody>
      </p:sp>
      <p:sp>
        <p:nvSpPr>
          <p:cNvPr id="17" name="TextBox 16"/>
          <p:cNvSpPr txBox="1"/>
          <p:nvPr/>
        </p:nvSpPr>
        <p:spPr>
          <a:xfrm>
            <a:off x="5029200" y="1572768"/>
            <a:ext cx="3749040" cy="260603"/>
          </a:xfrm>
          <a:prstGeom prst="rect">
            <a:avLst/>
          </a:prstGeom>
          <a:noFill/>
        </p:spPr>
        <p:txBody>
          <a:bodyPr wrap="square">
            <a:spAutoFit/>
          </a:bodyPr>
          <a:lstStyle/>
          <a:p>
            <a:pPr algn="l"/>
            <a:r>
              <a:rPr sz="1300" b="0">
                <a:solidFill>
                  <a:srgbClr val="B0C4D8"/>
                </a:solidFill>
              </a:rPr>
              <a:t>Split responsibility across specialist agents:</a:t>
            </a:r>
          </a:p>
        </p:txBody>
      </p:sp>
      <p:sp>
        <p:nvSpPr>
          <p:cNvPr id="18" name="TextBox 17"/>
          <p:cNvSpPr txBox="1"/>
          <p:nvPr/>
        </p:nvSpPr>
        <p:spPr>
          <a:xfrm>
            <a:off x="5029200" y="1833371"/>
            <a:ext cx="3749040" cy="260603"/>
          </a:xfrm>
          <a:prstGeom prst="rect">
            <a:avLst/>
          </a:prstGeom>
          <a:noFill/>
        </p:spPr>
        <p:txBody>
          <a:bodyPr wrap="square">
            <a:spAutoFit/>
          </a:bodyPr>
          <a:lstStyle/>
          <a:p>
            <a:pPr algn="l"/>
            <a:r>
              <a:rPr sz="1300" b="0">
                <a:solidFill>
                  <a:srgbClr val="B0C4D8"/>
                </a:solidFill>
              </a:rPr>
              <a:t/>
            </a:r>
          </a:p>
        </p:txBody>
      </p:sp>
      <p:sp>
        <p:nvSpPr>
          <p:cNvPr id="19" name="TextBox 18"/>
          <p:cNvSpPr txBox="1"/>
          <p:nvPr/>
        </p:nvSpPr>
        <p:spPr>
          <a:xfrm>
            <a:off x="5029200" y="2093974"/>
            <a:ext cx="3749040" cy="260603"/>
          </a:xfrm>
          <a:prstGeom prst="rect">
            <a:avLst/>
          </a:prstGeom>
          <a:noFill/>
        </p:spPr>
        <p:txBody>
          <a:bodyPr wrap="square">
            <a:spAutoFit/>
          </a:bodyPr>
          <a:lstStyle/>
          <a:p>
            <a:pPr algn="l"/>
            <a:r>
              <a:rPr sz="1300" b="0">
                <a:solidFill>
                  <a:srgbClr val="B0C4D8"/>
                </a:solidFill>
              </a:rPr>
              <a:t>  •  Each agent owns one domain</a:t>
            </a:r>
          </a:p>
        </p:txBody>
      </p:sp>
      <p:sp>
        <p:nvSpPr>
          <p:cNvPr id="20" name="TextBox 19"/>
          <p:cNvSpPr txBox="1"/>
          <p:nvPr/>
        </p:nvSpPr>
        <p:spPr>
          <a:xfrm>
            <a:off x="5029200" y="2354577"/>
            <a:ext cx="3749040" cy="260603"/>
          </a:xfrm>
          <a:prstGeom prst="rect">
            <a:avLst/>
          </a:prstGeom>
          <a:noFill/>
        </p:spPr>
        <p:txBody>
          <a:bodyPr wrap="square">
            <a:spAutoFit/>
          </a:bodyPr>
          <a:lstStyle/>
          <a:p>
            <a:pPr algn="l"/>
            <a:r>
              <a:rPr sz="1300" b="0">
                <a:solidFill>
                  <a:srgbClr val="B0C4D8"/>
                </a:solidFill>
              </a:rPr>
              <a:t>  •  Outputs are explicit and auditable</a:t>
            </a:r>
          </a:p>
        </p:txBody>
      </p:sp>
      <p:sp>
        <p:nvSpPr>
          <p:cNvPr id="21" name="TextBox 20"/>
          <p:cNvSpPr txBox="1"/>
          <p:nvPr/>
        </p:nvSpPr>
        <p:spPr>
          <a:xfrm>
            <a:off x="5029200" y="2615180"/>
            <a:ext cx="3749040" cy="260603"/>
          </a:xfrm>
          <a:prstGeom prst="rect">
            <a:avLst/>
          </a:prstGeom>
          <a:noFill/>
        </p:spPr>
        <p:txBody>
          <a:bodyPr wrap="square">
            <a:spAutoFit/>
          </a:bodyPr>
          <a:lstStyle/>
          <a:p>
            <a:pPr algn="l"/>
            <a:r>
              <a:rPr sz="1300" b="0">
                <a:solidFill>
                  <a:srgbClr val="B0C4D8"/>
                </a:solidFill>
              </a:rPr>
              <a:t>  •  A supervisor synthesizes all signals</a:t>
            </a:r>
          </a:p>
        </p:txBody>
      </p:sp>
      <p:sp>
        <p:nvSpPr>
          <p:cNvPr id="22" name="TextBox 21"/>
          <p:cNvSpPr txBox="1"/>
          <p:nvPr/>
        </p:nvSpPr>
        <p:spPr>
          <a:xfrm>
            <a:off x="5029200" y="2875783"/>
            <a:ext cx="3749040" cy="260603"/>
          </a:xfrm>
          <a:prstGeom prst="rect">
            <a:avLst/>
          </a:prstGeom>
          <a:noFill/>
        </p:spPr>
        <p:txBody>
          <a:bodyPr wrap="square">
            <a:spAutoFit/>
          </a:bodyPr>
          <a:lstStyle/>
          <a:p>
            <a:pPr algn="l"/>
            <a:r>
              <a:rPr sz="1300" b="0">
                <a:solidFill>
                  <a:srgbClr val="B0C4D8"/>
                </a:solidFill>
              </a:rPr>
              <a:t>  •  A judge independently checks the result</a:t>
            </a:r>
          </a:p>
        </p:txBody>
      </p:sp>
      <p:sp>
        <p:nvSpPr>
          <p:cNvPr id="23" name="TextBox 22"/>
          <p:cNvSpPr txBox="1"/>
          <p:nvPr/>
        </p:nvSpPr>
        <p:spPr>
          <a:xfrm>
            <a:off x="5029200" y="3136386"/>
            <a:ext cx="3749040" cy="260603"/>
          </a:xfrm>
          <a:prstGeom prst="rect">
            <a:avLst/>
          </a:prstGeom>
          <a:noFill/>
        </p:spPr>
        <p:txBody>
          <a:bodyPr wrap="square">
            <a:spAutoFit/>
          </a:bodyPr>
          <a:lstStyle/>
          <a:p>
            <a:pPr algn="l"/>
            <a:r>
              <a:rPr sz="1300" b="0">
                <a:solidFill>
                  <a:srgbClr val="B0C4D8"/>
                </a:solidFill>
              </a:rPr>
              <a:t>  •  A separate agent makes the trade decision</a:t>
            </a:r>
          </a:p>
        </p:txBody>
      </p:sp>
      <p:sp>
        <p:nvSpPr>
          <p:cNvPr id="24" name="Rectangle 23"/>
          <p:cNvSpPr/>
          <p:nvPr/>
        </p:nvSpPr>
        <p:spPr>
          <a:xfrm>
            <a:off x="274320" y="3749039"/>
            <a:ext cx="2788920" cy="109728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977639"/>
            <a:ext cx="2788920" cy="548640"/>
          </a:xfrm>
          <a:prstGeom prst="rect">
            <a:avLst/>
          </a:prstGeom>
          <a:noFill/>
        </p:spPr>
        <p:txBody>
          <a:bodyPr wrap="square">
            <a:spAutoFit/>
          </a:bodyPr>
          <a:lstStyle/>
          <a:p>
            <a:pPr algn="ctr"/>
            <a:r>
              <a:rPr sz="1700" b="1">
                <a:solidFill>
                  <a:srgbClr val="00C2FF"/>
                </a:solidFill>
              </a:rPr>
              <a:t>9 Agents</a:t>
            </a:r>
          </a:p>
        </p:txBody>
      </p:sp>
      <p:sp>
        <p:nvSpPr>
          <p:cNvPr id="26" name="Rectangle 25"/>
          <p:cNvSpPr/>
          <p:nvPr/>
        </p:nvSpPr>
        <p:spPr>
          <a:xfrm>
            <a:off x="3246120" y="3749039"/>
            <a:ext cx="2788920" cy="109728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46120" y="3977639"/>
            <a:ext cx="2788920" cy="548640"/>
          </a:xfrm>
          <a:prstGeom prst="rect">
            <a:avLst/>
          </a:prstGeom>
          <a:noFill/>
        </p:spPr>
        <p:txBody>
          <a:bodyPr wrap="square">
            <a:spAutoFit/>
          </a:bodyPr>
          <a:lstStyle/>
          <a:p>
            <a:pPr algn="ctr"/>
            <a:r>
              <a:rPr sz="1700" b="1">
                <a:solidFill>
                  <a:srgbClr val="00E596"/>
                </a:solidFill>
              </a:rPr>
              <a:t>2 Pipelines</a:t>
            </a:r>
          </a:p>
        </p:txBody>
      </p:sp>
      <p:sp>
        <p:nvSpPr>
          <p:cNvPr id="28" name="Rectangle 27"/>
          <p:cNvSpPr/>
          <p:nvPr/>
        </p:nvSpPr>
        <p:spPr>
          <a:xfrm>
            <a:off x="6217920" y="3749039"/>
            <a:ext cx="2788920" cy="109728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3977639"/>
            <a:ext cx="2788920" cy="548640"/>
          </a:xfrm>
          <a:prstGeom prst="rect">
            <a:avLst/>
          </a:prstGeom>
          <a:noFill/>
        </p:spPr>
        <p:txBody>
          <a:bodyPr wrap="square">
            <a:spAutoFit/>
          </a:bodyPr>
          <a:lstStyle/>
          <a:p>
            <a:pPr algn="ctr"/>
            <a:r>
              <a:rPr sz="1700" b="1">
                <a:solidFill>
                  <a:srgbClr val="FFB800"/>
                </a:solidFill>
              </a:rPr>
              <a:t>Every decision logged</a:t>
            </a:r>
          </a:p>
        </p:txBody>
      </p:sp>
      <p:sp>
        <p:nvSpPr>
          <p:cNvPr id="30" name="Rectangle 29"/>
          <p:cNvSpPr/>
          <p:nvPr/>
        </p:nvSpPr>
        <p:spPr>
          <a:xfrm>
            <a:off x="9189720" y="3749039"/>
            <a:ext cx="2788920" cy="1097280"/>
          </a:xfrm>
          <a:prstGeom prst="rect">
            <a:avLst/>
          </a:prstGeom>
          <a:solidFill>
            <a:srgbClr val="162A3D"/>
          </a:solidFill>
          <a:ln w="12700">
            <a:solidFill>
              <a:srgbClr val="FF4E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89720" y="3977639"/>
            <a:ext cx="2788920" cy="548640"/>
          </a:xfrm>
          <a:prstGeom prst="rect">
            <a:avLst/>
          </a:prstGeom>
          <a:noFill/>
        </p:spPr>
        <p:txBody>
          <a:bodyPr wrap="square">
            <a:spAutoFit/>
          </a:bodyPr>
          <a:lstStyle/>
          <a:p>
            <a:pPr algn="ctr"/>
            <a:r>
              <a:rPr sz="1700" b="1">
                <a:solidFill>
                  <a:srgbClr val="FF4E6A"/>
                </a:solidFill>
              </a:rPr>
              <a:t>No real money at risk</a:t>
            </a:r>
          </a:p>
        </p:txBody>
      </p:sp>
      <p:sp>
        <p:nvSpPr>
          <p:cNvPr id="32" name="TextBox 31"/>
          <p:cNvSpPr txBox="1"/>
          <p:nvPr/>
        </p:nvSpPr>
        <p:spPr>
          <a:xfrm>
            <a:off x="274320" y="5029200"/>
            <a:ext cx="11612880" cy="822960"/>
          </a:xfrm>
          <a:prstGeom prst="rect">
            <a:avLst/>
          </a:prstGeom>
          <a:noFill/>
        </p:spPr>
        <p:txBody>
          <a:bodyPr wrap="square">
            <a:spAutoFit/>
          </a:bodyPr>
          <a:lstStyle/>
          <a:p>
            <a:pPr algn="l"/>
            <a:r>
              <a:rPr sz="1400" b="0">
                <a:solidFill>
                  <a:srgbClr val="7EC8E3"/>
                </a:solidFill>
              </a:rPr>
              <a:t>Key principle:  Analysis recommendation  ≠  Trade execution
The agent that decides to buy is NOT the same agent that sends the order.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System Architecture — Two Independent Pipelines</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Analysis pipeline  &amp;  Trading pipeline communicate through a Redis cache</a:t>
            </a:r>
          </a:p>
        </p:txBody>
      </p:sp>
      <p:sp>
        <p:nvSpPr>
          <p:cNvPr id="6" name="Rectangle 5"/>
          <p:cNvSpPr/>
          <p:nvPr/>
        </p:nvSpPr>
        <p:spPr>
          <a:xfrm>
            <a:off x="228600" y="1097280"/>
            <a:ext cx="5394960" cy="5486400"/>
          </a:xfrm>
          <a:prstGeom prst="rect">
            <a:avLst/>
          </a:prstGeom>
          <a:solidFill>
            <a:srgbClr val="0A1E30"/>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70432"/>
            <a:ext cx="5120640" cy="347472"/>
          </a:xfrm>
          <a:prstGeom prst="rect">
            <a:avLst/>
          </a:prstGeom>
          <a:noFill/>
        </p:spPr>
        <p:txBody>
          <a:bodyPr wrap="square">
            <a:spAutoFit/>
          </a:bodyPr>
          <a:lstStyle/>
          <a:p>
            <a:pPr algn="l"/>
            <a:r>
              <a:rPr sz="1400" b="1">
                <a:solidFill>
                  <a:srgbClr val="00C2FF"/>
                </a:solidFill>
              </a:rPr>
              <a:t>ANALYSIS PIPELINE</a:t>
            </a:r>
          </a:p>
        </p:txBody>
      </p:sp>
      <p:sp>
        <p:nvSpPr>
          <p:cNvPr id="8" name="Rectangle 7"/>
          <p:cNvSpPr/>
          <p:nvPr/>
        </p:nvSpPr>
        <p:spPr>
          <a:xfrm>
            <a:off x="411480" y="1627632"/>
            <a:ext cx="5029200" cy="54864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627632"/>
            <a:ext cx="5029200" cy="548640"/>
          </a:xfrm>
          <a:prstGeom prst="rect">
            <a:avLst/>
          </a:prstGeom>
          <a:noFill/>
        </p:spPr>
        <p:txBody>
          <a:bodyPr wrap="square">
            <a:spAutoFit/>
          </a:bodyPr>
          <a:lstStyle/>
          <a:p>
            <a:pPr algn="ctr"/>
            <a:r>
              <a:rPr sz="1300" b="1">
                <a:solidFill>
                  <a:srgbClr val="00E596"/>
                </a:solidFill>
              </a:rPr>
              <a:t>Technical Agent</a:t>
            </a:r>
          </a:p>
        </p:txBody>
      </p:sp>
      <p:sp>
        <p:nvSpPr>
          <p:cNvPr id="10" name="Rectangle 9"/>
          <p:cNvSpPr/>
          <p:nvPr/>
        </p:nvSpPr>
        <p:spPr>
          <a:xfrm>
            <a:off x="411480" y="2340864"/>
            <a:ext cx="5029200" cy="54864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340864"/>
            <a:ext cx="5029200" cy="548640"/>
          </a:xfrm>
          <a:prstGeom prst="rect">
            <a:avLst/>
          </a:prstGeom>
          <a:noFill/>
        </p:spPr>
        <p:txBody>
          <a:bodyPr wrap="square">
            <a:spAutoFit/>
          </a:bodyPr>
          <a:lstStyle/>
          <a:p>
            <a:pPr algn="ctr"/>
            <a:r>
              <a:rPr sz="1300" b="1">
                <a:solidFill>
                  <a:srgbClr val="FFB800"/>
                </a:solidFill>
              </a:rPr>
              <a:t>News Agent</a:t>
            </a:r>
          </a:p>
        </p:txBody>
      </p:sp>
      <p:sp>
        <p:nvSpPr>
          <p:cNvPr id="12" name="Rectangle 11"/>
          <p:cNvSpPr/>
          <p:nvPr/>
        </p:nvSpPr>
        <p:spPr>
          <a:xfrm>
            <a:off x="411480" y="3054096"/>
            <a:ext cx="5029200" cy="548640"/>
          </a:xfrm>
          <a:prstGeom prst="rect">
            <a:avLst/>
          </a:prstGeom>
          <a:solidFill>
            <a:srgbClr val="162A3D"/>
          </a:solidFill>
          <a:ln w="12700">
            <a:solidFill>
              <a:srgbClr val="FF4E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3054096"/>
            <a:ext cx="5029200" cy="548640"/>
          </a:xfrm>
          <a:prstGeom prst="rect">
            <a:avLst/>
          </a:prstGeom>
          <a:noFill/>
        </p:spPr>
        <p:txBody>
          <a:bodyPr wrap="square">
            <a:spAutoFit/>
          </a:bodyPr>
          <a:lstStyle/>
          <a:p>
            <a:pPr algn="ctr"/>
            <a:r>
              <a:rPr sz="1300" b="1">
                <a:solidFill>
                  <a:srgbClr val="FF4E6A"/>
                </a:solidFill>
              </a:rPr>
              <a:t>Risk Agent</a:t>
            </a:r>
          </a:p>
        </p:txBody>
      </p:sp>
      <p:sp>
        <p:nvSpPr>
          <p:cNvPr id="14" name="Rectangle 13"/>
          <p:cNvSpPr/>
          <p:nvPr/>
        </p:nvSpPr>
        <p:spPr>
          <a:xfrm>
            <a:off x="411480" y="3767328"/>
            <a:ext cx="5029200" cy="54864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767328"/>
            <a:ext cx="5029200" cy="548640"/>
          </a:xfrm>
          <a:prstGeom prst="rect">
            <a:avLst/>
          </a:prstGeom>
          <a:noFill/>
        </p:spPr>
        <p:txBody>
          <a:bodyPr wrap="square">
            <a:spAutoFit/>
          </a:bodyPr>
          <a:lstStyle/>
          <a:p>
            <a:pPr algn="ctr"/>
            <a:r>
              <a:rPr sz="1300" b="1">
                <a:solidFill>
                  <a:srgbClr val="00C2FF"/>
                </a:solidFill>
              </a:rPr>
              <a:t>Fundamentals Agent</a:t>
            </a:r>
          </a:p>
        </p:txBody>
      </p:sp>
      <p:sp>
        <p:nvSpPr>
          <p:cNvPr id="16" name="TextBox 15"/>
          <p:cNvSpPr txBox="1"/>
          <p:nvPr/>
        </p:nvSpPr>
        <p:spPr>
          <a:xfrm>
            <a:off x="822960" y="4553712"/>
            <a:ext cx="4114800" cy="292608"/>
          </a:xfrm>
          <a:prstGeom prst="rect">
            <a:avLst/>
          </a:prstGeom>
          <a:noFill/>
        </p:spPr>
        <p:txBody>
          <a:bodyPr wrap="square">
            <a:spAutoFit/>
          </a:bodyPr>
          <a:lstStyle/>
          <a:p>
            <a:pPr algn="l"/>
            <a:r>
              <a:rPr sz="1100" b="0">
                <a:solidFill>
                  <a:srgbClr val="B0C4D8"/>
                </a:solidFill>
              </a:rPr>
              <a:t>run in parallel</a:t>
            </a:r>
          </a:p>
        </p:txBody>
      </p:sp>
      <p:sp>
        <p:nvSpPr>
          <p:cNvPr id="17" name="TextBox 16"/>
          <p:cNvSpPr txBox="1"/>
          <p:nvPr/>
        </p:nvSpPr>
        <p:spPr>
          <a:xfrm>
            <a:off x="2468880" y="4846320"/>
            <a:ext cx="640080" cy="274320"/>
          </a:xfrm>
          <a:prstGeom prst="rect">
            <a:avLst/>
          </a:prstGeom>
          <a:noFill/>
        </p:spPr>
        <p:txBody>
          <a:bodyPr wrap="square">
            <a:spAutoFit/>
          </a:bodyPr>
          <a:lstStyle/>
          <a:p>
            <a:pPr algn="ctr"/>
            <a:r>
              <a:rPr sz="1800" b="1">
                <a:solidFill>
                  <a:srgbClr val="00C2FF"/>
                </a:solidFill>
              </a:rPr>
              <a:t>↓</a:t>
            </a:r>
          </a:p>
        </p:txBody>
      </p:sp>
      <p:sp>
        <p:nvSpPr>
          <p:cNvPr id="18" name="Rectangle 17"/>
          <p:cNvSpPr/>
          <p:nvPr/>
        </p:nvSpPr>
        <p:spPr>
          <a:xfrm>
            <a:off x="411480" y="5138928"/>
            <a:ext cx="5029200" cy="59436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5138928"/>
            <a:ext cx="5029200" cy="594360"/>
          </a:xfrm>
          <a:prstGeom prst="rect">
            <a:avLst/>
          </a:prstGeom>
          <a:noFill/>
        </p:spPr>
        <p:txBody>
          <a:bodyPr wrap="square">
            <a:spAutoFit/>
          </a:bodyPr>
          <a:lstStyle/>
          <a:p>
            <a:pPr algn="ctr"/>
            <a:r>
              <a:rPr sz="1300" b="1">
                <a:solidFill>
                  <a:srgbClr val="00C2FF"/>
                </a:solidFill>
              </a:rPr>
              <a:t>Supervisor Agent</a:t>
            </a:r>
          </a:p>
        </p:txBody>
      </p:sp>
      <p:sp>
        <p:nvSpPr>
          <p:cNvPr id="20" name="TextBox 19"/>
          <p:cNvSpPr txBox="1"/>
          <p:nvPr/>
        </p:nvSpPr>
        <p:spPr>
          <a:xfrm>
            <a:off x="2468880" y="5742432"/>
            <a:ext cx="640080" cy="256032"/>
          </a:xfrm>
          <a:prstGeom prst="rect">
            <a:avLst/>
          </a:prstGeom>
          <a:noFill/>
        </p:spPr>
        <p:txBody>
          <a:bodyPr wrap="square">
            <a:spAutoFit/>
          </a:bodyPr>
          <a:lstStyle/>
          <a:p>
            <a:pPr algn="ctr"/>
            <a:r>
              <a:rPr sz="1800" b="1">
                <a:solidFill>
                  <a:srgbClr val="00C2FF"/>
                </a:solidFill>
              </a:rPr>
              <a:t>↓</a:t>
            </a:r>
          </a:p>
        </p:txBody>
      </p:sp>
      <p:sp>
        <p:nvSpPr>
          <p:cNvPr id="21" name="Rectangle 20"/>
          <p:cNvSpPr/>
          <p:nvPr/>
        </p:nvSpPr>
        <p:spPr>
          <a:xfrm>
            <a:off x="411480" y="5998464"/>
            <a:ext cx="5029200" cy="45720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5998464"/>
            <a:ext cx="5029200" cy="457200"/>
          </a:xfrm>
          <a:prstGeom prst="rect">
            <a:avLst/>
          </a:prstGeom>
          <a:noFill/>
        </p:spPr>
        <p:txBody>
          <a:bodyPr wrap="square">
            <a:spAutoFit/>
          </a:bodyPr>
          <a:lstStyle/>
          <a:p>
            <a:pPr algn="ctr"/>
            <a:r>
              <a:rPr sz="1300" b="1">
                <a:solidFill>
                  <a:srgbClr val="FFB800"/>
                </a:solidFill>
              </a:rPr>
              <a:t>LLM Judge</a:t>
            </a:r>
          </a:p>
        </p:txBody>
      </p:sp>
      <p:sp>
        <p:nvSpPr>
          <p:cNvPr id="23" name="TextBox 22"/>
          <p:cNvSpPr txBox="1"/>
          <p:nvPr/>
        </p:nvSpPr>
        <p:spPr>
          <a:xfrm>
            <a:off x="5577840" y="3291840"/>
            <a:ext cx="1005840" cy="320040"/>
          </a:xfrm>
          <a:prstGeom prst="rect">
            <a:avLst/>
          </a:prstGeom>
          <a:noFill/>
        </p:spPr>
        <p:txBody>
          <a:bodyPr wrap="square">
            <a:spAutoFit/>
          </a:bodyPr>
          <a:lstStyle/>
          <a:p>
            <a:pPr algn="l"/>
            <a:r>
              <a:rPr sz="1100" b="1">
                <a:solidFill>
                  <a:srgbClr val="FFB800"/>
                </a:solidFill>
              </a:rPr>
              <a:t>cache →</a:t>
            </a:r>
          </a:p>
        </p:txBody>
      </p:sp>
      <p:sp>
        <p:nvSpPr>
          <p:cNvPr id="24" name="Rectangle 23"/>
          <p:cNvSpPr/>
          <p:nvPr/>
        </p:nvSpPr>
        <p:spPr>
          <a:xfrm>
            <a:off x="5650992" y="3611880"/>
            <a:ext cx="73152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1097280"/>
            <a:ext cx="5486400" cy="5486400"/>
          </a:xfrm>
          <a:prstGeom prst="rect">
            <a:avLst/>
          </a:prstGeom>
          <a:solidFill>
            <a:srgbClr val="0A1E15"/>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1170432"/>
            <a:ext cx="5212080" cy="347472"/>
          </a:xfrm>
          <a:prstGeom prst="rect">
            <a:avLst/>
          </a:prstGeom>
          <a:noFill/>
        </p:spPr>
        <p:txBody>
          <a:bodyPr wrap="square">
            <a:spAutoFit/>
          </a:bodyPr>
          <a:lstStyle/>
          <a:p>
            <a:pPr algn="l"/>
            <a:r>
              <a:rPr sz="1400" b="1">
                <a:solidFill>
                  <a:srgbClr val="00E596"/>
                </a:solidFill>
              </a:rPr>
              <a:t>TRADING PIPELINE</a:t>
            </a:r>
          </a:p>
        </p:txBody>
      </p:sp>
      <p:sp>
        <p:nvSpPr>
          <p:cNvPr id="27" name="Rectangle 26"/>
          <p:cNvSpPr/>
          <p:nvPr/>
        </p:nvSpPr>
        <p:spPr>
          <a:xfrm>
            <a:off x="6675120" y="1627632"/>
            <a:ext cx="5120640" cy="54864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1627632"/>
            <a:ext cx="5120640" cy="548640"/>
          </a:xfrm>
          <a:prstGeom prst="rect">
            <a:avLst/>
          </a:prstGeom>
          <a:noFill/>
        </p:spPr>
        <p:txBody>
          <a:bodyPr wrap="square">
            <a:spAutoFit/>
          </a:bodyPr>
          <a:lstStyle/>
          <a:p>
            <a:pPr algn="ctr"/>
            <a:r>
              <a:rPr sz="1300" b="1">
                <a:solidFill>
                  <a:srgbClr val="00E596"/>
                </a:solidFill>
              </a:rPr>
              <a:t>Market Observer</a:t>
            </a:r>
          </a:p>
        </p:txBody>
      </p:sp>
      <p:sp>
        <p:nvSpPr>
          <p:cNvPr id="29" name="Rectangle 28"/>
          <p:cNvSpPr/>
          <p:nvPr/>
        </p:nvSpPr>
        <p:spPr>
          <a:xfrm>
            <a:off x="6675120" y="2340864"/>
            <a:ext cx="5120640" cy="54864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2340864"/>
            <a:ext cx="5120640" cy="548640"/>
          </a:xfrm>
          <a:prstGeom prst="rect">
            <a:avLst/>
          </a:prstGeom>
          <a:noFill/>
        </p:spPr>
        <p:txBody>
          <a:bodyPr wrap="square">
            <a:spAutoFit/>
          </a:bodyPr>
          <a:lstStyle/>
          <a:p>
            <a:pPr algn="ctr"/>
            <a:r>
              <a:rPr sz="1300" b="1">
                <a:solidFill>
                  <a:srgbClr val="00C2FF"/>
                </a:solidFill>
              </a:rPr>
              <a:t>Analysis Fetcher</a:t>
            </a:r>
          </a:p>
        </p:txBody>
      </p:sp>
      <p:sp>
        <p:nvSpPr>
          <p:cNvPr id="31" name="Rectangle 30"/>
          <p:cNvSpPr/>
          <p:nvPr/>
        </p:nvSpPr>
        <p:spPr>
          <a:xfrm>
            <a:off x="6675120" y="3054096"/>
            <a:ext cx="5120640" cy="54864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3054096"/>
            <a:ext cx="5120640" cy="548640"/>
          </a:xfrm>
          <a:prstGeom prst="rect">
            <a:avLst/>
          </a:prstGeom>
          <a:noFill/>
        </p:spPr>
        <p:txBody>
          <a:bodyPr wrap="square">
            <a:spAutoFit/>
          </a:bodyPr>
          <a:lstStyle/>
          <a:p>
            <a:pPr algn="ctr"/>
            <a:r>
              <a:rPr sz="1300" b="1">
                <a:solidFill>
                  <a:srgbClr val="FFB800"/>
                </a:solidFill>
              </a:rPr>
              <a:t>Memory Retrieval</a:t>
            </a:r>
          </a:p>
        </p:txBody>
      </p:sp>
      <p:sp>
        <p:nvSpPr>
          <p:cNvPr id="33" name="Rectangle 32"/>
          <p:cNvSpPr/>
          <p:nvPr/>
        </p:nvSpPr>
        <p:spPr>
          <a:xfrm>
            <a:off x="6675120" y="3767328"/>
            <a:ext cx="5120640" cy="54864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0" y="3767328"/>
            <a:ext cx="5120640" cy="548640"/>
          </a:xfrm>
          <a:prstGeom prst="rect">
            <a:avLst/>
          </a:prstGeom>
          <a:noFill/>
        </p:spPr>
        <p:txBody>
          <a:bodyPr wrap="square">
            <a:spAutoFit/>
          </a:bodyPr>
          <a:lstStyle/>
          <a:p>
            <a:pPr algn="ctr"/>
            <a:r>
              <a:rPr sz="1300" b="1">
                <a:solidFill>
                  <a:srgbClr val="00E596"/>
                </a:solidFill>
              </a:rPr>
              <a:t>Trade Decision Agent</a:t>
            </a:r>
          </a:p>
        </p:txBody>
      </p:sp>
      <p:sp>
        <p:nvSpPr>
          <p:cNvPr id="35" name="TextBox 34"/>
          <p:cNvSpPr txBox="1"/>
          <p:nvPr/>
        </p:nvSpPr>
        <p:spPr>
          <a:xfrm>
            <a:off x="7040880" y="4553712"/>
            <a:ext cx="4114800" cy="292608"/>
          </a:xfrm>
          <a:prstGeom prst="rect">
            <a:avLst/>
          </a:prstGeom>
          <a:noFill/>
        </p:spPr>
        <p:txBody>
          <a:bodyPr wrap="square">
            <a:spAutoFit/>
          </a:bodyPr>
          <a:lstStyle/>
          <a:p>
            <a:pPr algn="l"/>
            <a:r>
              <a:rPr sz="1100" b="0">
                <a:solidFill>
                  <a:srgbClr val="B0C4D8"/>
                </a:solidFill>
              </a:rPr>
              <a:t>safety gates</a:t>
            </a:r>
          </a:p>
        </p:txBody>
      </p:sp>
      <p:sp>
        <p:nvSpPr>
          <p:cNvPr id="36" name="TextBox 35"/>
          <p:cNvSpPr txBox="1"/>
          <p:nvPr/>
        </p:nvSpPr>
        <p:spPr>
          <a:xfrm>
            <a:off x="9144000" y="4846320"/>
            <a:ext cx="640080" cy="274320"/>
          </a:xfrm>
          <a:prstGeom prst="rect">
            <a:avLst/>
          </a:prstGeom>
          <a:noFill/>
        </p:spPr>
        <p:txBody>
          <a:bodyPr wrap="square">
            <a:spAutoFit/>
          </a:bodyPr>
          <a:lstStyle/>
          <a:p>
            <a:pPr algn="ctr"/>
            <a:r>
              <a:rPr sz="1800" b="1">
                <a:solidFill>
                  <a:srgbClr val="00E596"/>
                </a:solidFill>
              </a:rPr>
              <a:t>↓</a:t>
            </a:r>
          </a:p>
        </p:txBody>
      </p:sp>
      <p:sp>
        <p:nvSpPr>
          <p:cNvPr id="37" name="Rectangle 36"/>
          <p:cNvSpPr/>
          <p:nvPr/>
        </p:nvSpPr>
        <p:spPr>
          <a:xfrm>
            <a:off x="6675120" y="5138928"/>
            <a:ext cx="5120640" cy="59436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0" y="5138928"/>
            <a:ext cx="5120640" cy="594360"/>
          </a:xfrm>
          <a:prstGeom prst="rect">
            <a:avLst/>
          </a:prstGeom>
          <a:noFill/>
        </p:spPr>
        <p:txBody>
          <a:bodyPr wrap="square">
            <a:spAutoFit/>
          </a:bodyPr>
          <a:lstStyle/>
          <a:p>
            <a:pPr algn="ctr"/>
            <a:r>
              <a:rPr sz="1300" b="1">
                <a:solidFill>
                  <a:srgbClr val="00E596"/>
                </a:solidFill>
              </a:rPr>
              <a:t>Trade Execution Agent</a:t>
            </a:r>
          </a:p>
        </p:txBody>
      </p:sp>
      <p:sp>
        <p:nvSpPr>
          <p:cNvPr id="39" name="TextBox 38"/>
          <p:cNvSpPr txBox="1"/>
          <p:nvPr/>
        </p:nvSpPr>
        <p:spPr>
          <a:xfrm>
            <a:off x="9144000" y="5742432"/>
            <a:ext cx="640080" cy="256032"/>
          </a:xfrm>
          <a:prstGeom prst="rect">
            <a:avLst/>
          </a:prstGeom>
          <a:noFill/>
        </p:spPr>
        <p:txBody>
          <a:bodyPr wrap="square">
            <a:spAutoFit/>
          </a:bodyPr>
          <a:lstStyle/>
          <a:p>
            <a:pPr algn="ctr"/>
            <a:r>
              <a:rPr sz="1800" b="1">
                <a:solidFill>
                  <a:srgbClr val="00E596"/>
                </a:solidFill>
              </a:rPr>
              <a:t>↓</a:t>
            </a:r>
          </a:p>
        </p:txBody>
      </p:sp>
      <p:sp>
        <p:nvSpPr>
          <p:cNvPr id="40" name="Rectangle 39"/>
          <p:cNvSpPr/>
          <p:nvPr/>
        </p:nvSpPr>
        <p:spPr>
          <a:xfrm>
            <a:off x="6675120" y="5998464"/>
            <a:ext cx="5120640" cy="45720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0" y="5998464"/>
            <a:ext cx="5120640" cy="457200"/>
          </a:xfrm>
          <a:prstGeom prst="rect">
            <a:avLst/>
          </a:prstGeom>
          <a:noFill/>
        </p:spPr>
        <p:txBody>
          <a:bodyPr wrap="square">
            <a:spAutoFit/>
          </a:bodyPr>
          <a:lstStyle/>
          <a:p>
            <a:pPr algn="ctr"/>
            <a:r>
              <a:rPr sz="1300" b="1">
                <a:solidFill>
                  <a:srgbClr val="FFB800"/>
                </a:solidFill>
              </a:rPr>
              <a:t>Reflection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The Four Specialist Agents</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Each owns one domain  ·  Run in parallel  ·  No LLM except News Agent</a:t>
            </a:r>
          </a:p>
        </p:txBody>
      </p:sp>
      <p:sp>
        <p:nvSpPr>
          <p:cNvPr id="6" name="Rectangle 5"/>
          <p:cNvSpPr/>
          <p:nvPr/>
        </p:nvSpPr>
        <p:spPr>
          <a:xfrm>
            <a:off x="228600" y="1143000"/>
            <a:ext cx="5760720" cy="260604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16152"/>
            <a:ext cx="5486400" cy="384048"/>
          </a:xfrm>
          <a:prstGeom prst="rect">
            <a:avLst/>
          </a:prstGeom>
          <a:noFill/>
        </p:spPr>
        <p:txBody>
          <a:bodyPr wrap="square">
            <a:spAutoFit/>
          </a:bodyPr>
          <a:lstStyle/>
          <a:p>
            <a:pPr algn="l"/>
            <a:r>
              <a:rPr sz="1500" b="1">
                <a:solidFill>
                  <a:srgbClr val="00E596"/>
                </a:solidFill>
              </a:rPr>
              <a:t>Technical Agent</a:t>
            </a:r>
          </a:p>
        </p:txBody>
      </p:sp>
      <p:sp>
        <p:nvSpPr>
          <p:cNvPr id="8" name="TextBox 7"/>
          <p:cNvSpPr txBox="1"/>
          <p:nvPr/>
        </p:nvSpPr>
        <p:spPr>
          <a:xfrm>
            <a:off x="365760" y="1655064"/>
            <a:ext cx="5486400" cy="274320"/>
          </a:xfrm>
          <a:prstGeom prst="rect">
            <a:avLst/>
          </a:prstGeom>
          <a:noFill/>
        </p:spPr>
        <p:txBody>
          <a:bodyPr wrap="square">
            <a:spAutoFit/>
          </a:bodyPr>
          <a:lstStyle/>
          <a:p>
            <a:pPr algn="l"/>
            <a:r>
              <a:rPr sz="1100" b="1">
                <a:solidFill>
                  <a:srgbClr val="00E596"/>
                </a:solidFill>
              </a:rPr>
              <a:t>What it does</a:t>
            </a:r>
          </a:p>
        </p:txBody>
      </p:sp>
      <p:sp>
        <p:nvSpPr>
          <p:cNvPr id="9" name="TextBox 8"/>
          <p:cNvSpPr txBox="1"/>
          <p:nvPr/>
        </p:nvSpPr>
        <p:spPr>
          <a:xfrm>
            <a:off x="365760" y="1929384"/>
            <a:ext cx="5486400" cy="777240"/>
          </a:xfrm>
          <a:prstGeom prst="rect">
            <a:avLst/>
          </a:prstGeom>
          <a:noFill/>
        </p:spPr>
        <p:txBody>
          <a:bodyPr wrap="square">
            <a:spAutoFit/>
          </a:bodyPr>
          <a:lstStyle/>
          <a:p>
            <a:pPr algn="l"/>
            <a:r>
              <a:rPr sz="1100" b="0">
                <a:solidFill>
                  <a:srgbClr val="B0C4D8"/>
                </a:solidFill>
              </a:rPr>
              <a:t>Reads 6 months of price history and computes indicators
(RSI, MACD, EMA crossovers, ATR, support &amp; resistance).
Classifies the overall technical bias as bullish, bearish, or neutral.</a:t>
            </a:r>
          </a:p>
        </p:txBody>
      </p:sp>
      <p:sp>
        <p:nvSpPr>
          <p:cNvPr id="10" name="TextBox 9"/>
          <p:cNvSpPr txBox="1"/>
          <p:nvPr/>
        </p:nvSpPr>
        <p:spPr>
          <a:xfrm>
            <a:off x="365760" y="2715768"/>
            <a:ext cx="5486400" cy="274320"/>
          </a:xfrm>
          <a:prstGeom prst="rect">
            <a:avLst/>
          </a:prstGeom>
          <a:noFill/>
        </p:spPr>
        <p:txBody>
          <a:bodyPr wrap="square">
            <a:spAutoFit/>
          </a:bodyPr>
          <a:lstStyle/>
          <a:p>
            <a:pPr algn="l"/>
            <a:r>
              <a:rPr sz="1100" b="1">
                <a:solidFill>
                  <a:srgbClr val="00E596"/>
                </a:solidFill>
              </a:rPr>
              <a:t>Why it exists</a:t>
            </a:r>
          </a:p>
        </p:txBody>
      </p:sp>
      <p:sp>
        <p:nvSpPr>
          <p:cNvPr id="11" name="TextBox 10"/>
          <p:cNvSpPr txBox="1"/>
          <p:nvPr/>
        </p:nvSpPr>
        <p:spPr>
          <a:xfrm>
            <a:off x="365760" y="2990088"/>
            <a:ext cx="5486400" cy="685800"/>
          </a:xfrm>
          <a:prstGeom prst="rect">
            <a:avLst/>
          </a:prstGeom>
          <a:noFill/>
        </p:spPr>
        <p:txBody>
          <a:bodyPr wrap="square">
            <a:spAutoFit/>
          </a:bodyPr>
          <a:lstStyle/>
          <a:p>
            <a:pPr algn="l"/>
            <a:r>
              <a:rPr sz="1100" b="0">
                <a:solidFill>
                  <a:srgbClr val="B0C4D8"/>
                </a:solidFill>
              </a:rPr>
              <a:t>Price action tells you WHERE the market is right now.
Purely deterministic — same input always gives same output.
No LLM needed here; math is more reliable than language.</a:t>
            </a:r>
          </a:p>
        </p:txBody>
      </p:sp>
      <p:sp>
        <p:nvSpPr>
          <p:cNvPr id="12" name="Rectangle 11"/>
          <p:cNvSpPr/>
          <p:nvPr/>
        </p:nvSpPr>
        <p:spPr>
          <a:xfrm>
            <a:off x="6217920" y="1143000"/>
            <a:ext cx="5760720" cy="260604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216152"/>
            <a:ext cx="5486400" cy="384048"/>
          </a:xfrm>
          <a:prstGeom prst="rect">
            <a:avLst/>
          </a:prstGeom>
          <a:noFill/>
        </p:spPr>
        <p:txBody>
          <a:bodyPr wrap="square">
            <a:spAutoFit/>
          </a:bodyPr>
          <a:lstStyle/>
          <a:p>
            <a:pPr algn="l"/>
            <a:r>
              <a:rPr sz="1500" b="1">
                <a:solidFill>
                  <a:srgbClr val="FFB800"/>
                </a:solidFill>
              </a:rPr>
              <a:t>News Agent</a:t>
            </a:r>
          </a:p>
        </p:txBody>
      </p:sp>
      <p:sp>
        <p:nvSpPr>
          <p:cNvPr id="14" name="TextBox 13"/>
          <p:cNvSpPr txBox="1"/>
          <p:nvPr/>
        </p:nvSpPr>
        <p:spPr>
          <a:xfrm>
            <a:off x="6355080" y="1655064"/>
            <a:ext cx="5486400" cy="274320"/>
          </a:xfrm>
          <a:prstGeom prst="rect">
            <a:avLst/>
          </a:prstGeom>
          <a:noFill/>
        </p:spPr>
        <p:txBody>
          <a:bodyPr wrap="square">
            <a:spAutoFit/>
          </a:bodyPr>
          <a:lstStyle/>
          <a:p>
            <a:pPr algn="l"/>
            <a:r>
              <a:rPr sz="1100" b="1">
                <a:solidFill>
                  <a:srgbClr val="FFB800"/>
                </a:solidFill>
              </a:rPr>
              <a:t>What it does</a:t>
            </a:r>
          </a:p>
        </p:txBody>
      </p:sp>
      <p:sp>
        <p:nvSpPr>
          <p:cNvPr id="15" name="TextBox 14"/>
          <p:cNvSpPr txBox="1"/>
          <p:nvPr/>
        </p:nvSpPr>
        <p:spPr>
          <a:xfrm>
            <a:off x="6355080" y="1929384"/>
            <a:ext cx="5486400" cy="777240"/>
          </a:xfrm>
          <a:prstGeom prst="rect">
            <a:avLst/>
          </a:prstGeom>
          <a:noFill/>
        </p:spPr>
        <p:txBody>
          <a:bodyPr wrap="square">
            <a:spAutoFit/>
          </a:bodyPr>
          <a:lstStyle/>
          <a:p>
            <a:pPr algn="l"/>
            <a:r>
              <a:rPr sz="1100" b="0">
                <a:solidFill>
                  <a:srgbClr val="B0C4D8"/>
                </a:solidFill>
              </a:rPr>
              <a:t>Fetches recent news headlines for the stock.
Uses an LLM to score the collective sentiment
(positive / negative / neutral, with a -1 to +1 score).</a:t>
            </a:r>
          </a:p>
        </p:txBody>
      </p:sp>
      <p:sp>
        <p:nvSpPr>
          <p:cNvPr id="16" name="TextBox 15"/>
          <p:cNvSpPr txBox="1"/>
          <p:nvPr/>
        </p:nvSpPr>
        <p:spPr>
          <a:xfrm>
            <a:off x="6355080" y="2715768"/>
            <a:ext cx="5486400" cy="274320"/>
          </a:xfrm>
          <a:prstGeom prst="rect">
            <a:avLst/>
          </a:prstGeom>
          <a:noFill/>
        </p:spPr>
        <p:txBody>
          <a:bodyPr wrap="square">
            <a:spAutoFit/>
          </a:bodyPr>
          <a:lstStyle/>
          <a:p>
            <a:pPr algn="l"/>
            <a:r>
              <a:rPr sz="1100" b="1">
                <a:solidFill>
                  <a:srgbClr val="FFB800"/>
                </a:solidFill>
              </a:rPr>
              <a:t>Why it exists</a:t>
            </a:r>
          </a:p>
        </p:txBody>
      </p:sp>
      <p:sp>
        <p:nvSpPr>
          <p:cNvPr id="17" name="TextBox 16"/>
          <p:cNvSpPr txBox="1"/>
          <p:nvPr/>
        </p:nvSpPr>
        <p:spPr>
          <a:xfrm>
            <a:off x="6355080" y="2990088"/>
            <a:ext cx="5486400" cy="685800"/>
          </a:xfrm>
          <a:prstGeom prst="rect">
            <a:avLst/>
          </a:prstGeom>
          <a:noFill/>
        </p:spPr>
        <p:txBody>
          <a:bodyPr wrap="square">
            <a:spAutoFit/>
          </a:bodyPr>
          <a:lstStyle/>
          <a:p>
            <a:pPr algn="l"/>
            <a:r>
              <a:rPr sz="1100" b="0">
                <a:solidFill>
                  <a:srgbClr val="B0C4D8"/>
                </a:solidFill>
              </a:rPr>
              <a:t>Market-moving events do not show up in price data yet.
Sentiment gives early signal about upcoming moves.
LLM is used here because headlines need language understanding.</a:t>
            </a:r>
          </a:p>
        </p:txBody>
      </p:sp>
      <p:sp>
        <p:nvSpPr>
          <p:cNvPr id="18" name="Rectangle 17"/>
          <p:cNvSpPr/>
          <p:nvPr/>
        </p:nvSpPr>
        <p:spPr>
          <a:xfrm>
            <a:off x="228600" y="3886200"/>
            <a:ext cx="5760720" cy="2606040"/>
          </a:xfrm>
          <a:prstGeom prst="rect">
            <a:avLst/>
          </a:prstGeom>
          <a:solidFill>
            <a:srgbClr val="162A3D"/>
          </a:solidFill>
          <a:ln w="12700">
            <a:solidFill>
              <a:srgbClr val="FF4E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959352"/>
            <a:ext cx="5486400" cy="384048"/>
          </a:xfrm>
          <a:prstGeom prst="rect">
            <a:avLst/>
          </a:prstGeom>
          <a:noFill/>
        </p:spPr>
        <p:txBody>
          <a:bodyPr wrap="square">
            <a:spAutoFit/>
          </a:bodyPr>
          <a:lstStyle/>
          <a:p>
            <a:pPr algn="l"/>
            <a:r>
              <a:rPr sz="1500" b="1">
                <a:solidFill>
                  <a:srgbClr val="FF4E6A"/>
                </a:solidFill>
              </a:rPr>
              <a:t>Risk Agent</a:t>
            </a:r>
          </a:p>
        </p:txBody>
      </p:sp>
      <p:sp>
        <p:nvSpPr>
          <p:cNvPr id="20" name="TextBox 19"/>
          <p:cNvSpPr txBox="1"/>
          <p:nvPr/>
        </p:nvSpPr>
        <p:spPr>
          <a:xfrm>
            <a:off x="365760" y="4398264"/>
            <a:ext cx="5486400" cy="274320"/>
          </a:xfrm>
          <a:prstGeom prst="rect">
            <a:avLst/>
          </a:prstGeom>
          <a:noFill/>
        </p:spPr>
        <p:txBody>
          <a:bodyPr wrap="square">
            <a:spAutoFit/>
          </a:bodyPr>
          <a:lstStyle/>
          <a:p>
            <a:pPr algn="l"/>
            <a:r>
              <a:rPr sz="1100" b="1">
                <a:solidFill>
                  <a:srgbClr val="FF4E6A"/>
                </a:solidFill>
              </a:rPr>
              <a:t>What it does</a:t>
            </a:r>
          </a:p>
        </p:txBody>
      </p:sp>
      <p:sp>
        <p:nvSpPr>
          <p:cNvPr id="21" name="TextBox 20"/>
          <p:cNvSpPr txBox="1"/>
          <p:nvPr/>
        </p:nvSpPr>
        <p:spPr>
          <a:xfrm>
            <a:off x="365760" y="4672584"/>
            <a:ext cx="5486400" cy="777240"/>
          </a:xfrm>
          <a:prstGeom prst="rect">
            <a:avLst/>
          </a:prstGeom>
          <a:noFill/>
        </p:spPr>
        <p:txBody>
          <a:bodyPr wrap="square">
            <a:spAutoFit/>
          </a:bodyPr>
          <a:lstStyle/>
          <a:p>
            <a:pPr algn="l"/>
            <a:r>
              <a:rPr sz="1100" b="0">
                <a:solidFill>
                  <a:srgbClr val="B0C4D8"/>
                </a:solidFill>
              </a:rPr>
              <a:t>Calculates statistical risk metrics: annualized volatility,
beta vs SPY, Value-at-Risk (95%), max drawdown, Sharpe ratio.
Labels the overall risk level: low / medium / high / very high.</a:t>
            </a:r>
          </a:p>
        </p:txBody>
      </p:sp>
      <p:sp>
        <p:nvSpPr>
          <p:cNvPr id="22" name="TextBox 21"/>
          <p:cNvSpPr txBox="1"/>
          <p:nvPr/>
        </p:nvSpPr>
        <p:spPr>
          <a:xfrm>
            <a:off x="365760" y="5458968"/>
            <a:ext cx="5486400" cy="274320"/>
          </a:xfrm>
          <a:prstGeom prst="rect">
            <a:avLst/>
          </a:prstGeom>
          <a:noFill/>
        </p:spPr>
        <p:txBody>
          <a:bodyPr wrap="square">
            <a:spAutoFit/>
          </a:bodyPr>
          <a:lstStyle/>
          <a:p>
            <a:pPr algn="l"/>
            <a:r>
              <a:rPr sz="1100" b="1">
                <a:solidFill>
                  <a:srgbClr val="FF4E6A"/>
                </a:solidFill>
              </a:rPr>
              <a:t>Why it exists</a:t>
            </a:r>
          </a:p>
        </p:txBody>
      </p:sp>
      <p:sp>
        <p:nvSpPr>
          <p:cNvPr id="23" name="TextBox 22"/>
          <p:cNvSpPr txBox="1"/>
          <p:nvPr/>
        </p:nvSpPr>
        <p:spPr>
          <a:xfrm>
            <a:off x="365760" y="5733288"/>
            <a:ext cx="5486400" cy="685800"/>
          </a:xfrm>
          <a:prstGeom prst="rect">
            <a:avLst/>
          </a:prstGeom>
          <a:noFill/>
        </p:spPr>
        <p:txBody>
          <a:bodyPr wrap="square">
            <a:spAutoFit/>
          </a:bodyPr>
          <a:lstStyle/>
          <a:p>
            <a:pPr algn="l"/>
            <a:r>
              <a:rPr sz="1100" b="0">
                <a:solidFill>
                  <a:srgbClr val="B0C4D8"/>
                </a:solidFill>
              </a:rPr>
              <a:t>A great technical setup in a highly volatile stock is still risky.
The supervisor needs explicit risk data to set stop-loss levels.
Keeps risk quantified, not just 'it feels risky'.</a:t>
            </a:r>
          </a:p>
        </p:txBody>
      </p:sp>
      <p:sp>
        <p:nvSpPr>
          <p:cNvPr id="24" name="Rectangle 23"/>
          <p:cNvSpPr/>
          <p:nvPr/>
        </p:nvSpPr>
        <p:spPr>
          <a:xfrm>
            <a:off x="6217920" y="3886200"/>
            <a:ext cx="5760720" cy="260604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3959352"/>
            <a:ext cx="5486400" cy="384048"/>
          </a:xfrm>
          <a:prstGeom prst="rect">
            <a:avLst/>
          </a:prstGeom>
          <a:noFill/>
        </p:spPr>
        <p:txBody>
          <a:bodyPr wrap="square">
            <a:spAutoFit/>
          </a:bodyPr>
          <a:lstStyle/>
          <a:p>
            <a:pPr algn="l"/>
            <a:r>
              <a:rPr sz="1500" b="1">
                <a:solidFill>
                  <a:srgbClr val="00C2FF"/>
                </a:solidFill>
              </a:rPr>
              <a:t>Fundamentals Agent</a:t>
            </a:r>
          </a:p>
        </p:txBody>
      </p:sp>
      <p:sp>
        <p:nvSpPr>
          <p:cNvPr id="26" name="TextBox 25"/>
          <p:cNvSpPr txBox="1"/>
          <p:nvPr/>
        </p:nvSpPr>
        <p:spPr>
          <a:xfrm>
            <a:off x="6355080" y="4398264"/>
            <a:ext cx="5486400" cy="274320"/>
          </a:xfrm>
          <a:prstGeom prst="rect">
            <a:avLst/>
          </a:prstGeom>
          <a:noFill/>
        </p:spPr>
        <p:txBody>
          <a:bodyPr wrap="square">
            <a:spAutoFit/>
          </a:bodyPr>
          <a:lstStyle/>
          <a:p>
            <a:pPr algn="l"/>
            <a:r>
              <a:rPr sz="1100" b="1">
                <a:solidFill>
                  <a:srgbClr val="00C2FF"/>
                </a:solidFill>
              </a:rPr>
              <a:t>What it does</a:t>
            </a:r>
          </a:p>
        </p:txBody>
      </p:sp>
      <p:sp>
        <p:nvSpPr>
          <p:cNvPr id="27" name="TextBox 26"/>
          <p:cNvSpPr txBox="1"/>
          <p:nvPr/>
        </p:nvSpPr>
        <p:spPr>
          <a:xfrm>
            <a:off x="6355080" y="4672584"/>
            <a:ext cx="5486400" cy="777240"/>
          </a:xfrm>
          <a:prstGeom prst="rect">
            <a:avLst/>
          </a:prstGeom>
          <a:noFill/>
        </p:spPr>
        <p:txBody>
          <a:bodyPr wrap="square">
            <a:spAutoFit/>
          </a:bodyPr>
          <a:lstStyle/>
          <a:p>
            <a:pPr algn="l"/>
            <a:r>
              <a:rPr sz="1100" b="0">
                <a:solidFill>
                  <a:srgbClr val="B0C4D8"/>
                </a:solidFill>
              </a:rPr>
              <a:t>Pulls company profile (sector, market cap, P/E, EPS)
and financial statements (revenue, margins, balance sheet).
Passes raw data directly to the Supervisor.</a:t>
            </a:r>
          </a:p>
        </p:txBody>
      </p:sp>
      <p:sp>
        <p:nvSpPr>
          <p:cNvPr id="28" name="TextBox 27"/>
          <p:cNvSpPr txBox="1"/>
          <p:nvPr/>
        </p:nvSpPr>
        <p:spPr>
          <a:xfrm>
            <a:off x="6355080" y="5458968"/>
            <a:ext cx="5486400" cy="274320"/>
          </a:xfrm>
          <a:prstGeom prst="rect">
            <a:avLst/>
          </a:prstGeom>
          <a:noFill/>
        </p:spPr>
        <p:txBody>
          <a:bodyPr wrap="square">
            <a:spAutoFit/>
          </a:bodyPr>
          <a:lstStyle/>
          <a:p>
            <a:pPr algn="l"/>
            <a:r>
              <a:rPr sz="1100" b="1">
                <a:solidFill>
                  <a:srgbClr val="00C2FF"/>
                </a:solidFill>
              </a:rPr>
              <a:t>Why it exists</a:t>
            </a:r>
          </a:p>
        </p:txBody>
      </p:sp>
      <p:sp>
        <p:nvSpPr>
          <p:cNvPr id="29" name="TextBox 28"/>
          <p:cNvSpPr txBox="1"/>
          <p:nvPr/>
        </p:nvSpPr>
        <p:spPr>
          <a:xfrm>
            <a:off x="6355080" y="5733288"/>
            <a:ext cx="5486400" cy="685800"/>
          </a:xfrm>
          <a:prstGeom prst="rect">
            <a:avLst/>
          </a:prstGeom>
          <a:noFill/>
        </p:spPr>
        <p:txBody>
          <a:bodyPr wrap="square">
            <a:spAutoFit/>
          </a:bodyPr>
          <a:lstStyle/>
          <a:p>
            <a:pPr algn="l"/>
            <a:r>
              <a:rPr sz="1100" b="0">
                <a:solidFill>
                  <a:srgbClr val="B0C4D8"/>
                </a:solidFill>
              </a:rPr>
              <a:t>Technicals show momentum; fundamentals show quality.
A stock in a downtrend may still be fundamentally strong.
Gives the Supervisor the full picture, not just price signals.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Supervisor Agent</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Synthesizes all four analyses into one final recommendation</a:t>
            </a:r>
          </a:p>
        </p:txBody>
      </p:sp>
      <p:sp>
        <p:nvSpPr>
          <p:cNvPr id="6" name="Rectangle 5"/>
          <p:cNvSpPr/>
          <p:nvPr/>
        </p:nvSpPr>
        <p:spPr>
          <a:xfrm>
            <a:off x="274320" y="1188720"/>
            <a:ext cx="2743200" cy="59436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188720"/>
            <a:ext cx="2743200" cy="594360"/>
          </a:xfrm>
          <a:prstGeom prst="rect">
            <a:avLst/>
          </a:prstGeom>
          <a:noFill/>
        </p:spPr>
        <p:txBody>
          <a:bodyPr wrap="square">
            <a:spAutoFit/>
          </a:bodyPr>
          <a:lstStyle/>
          <a:p>
            <a:pPr algn="ctr"/>
            <a:r>
              <a:rPr sz="1300" b="1">
                <a:solidFill>
                  <a:srgbClr val="00E596"/>
                </a:solidFill>
              </a:rPr>
              <a:t>Technical Output</a:t>
            </a:r>
          </a:p>
        </p:txBody>
      </p:sp>
      <p:sp>
        <p:nvSpPr>
          <p:cNvPr id="8" name="TextBox 7"/>
          <p:cNvSpPr txBox="1"/>
          <p:nvPr/>
        </p:nvSpPr>
        <p:spPr>
          <a:xfrm>
            <a:off x="1280160" y="1828800"/>
            <a:ext cx="731520" cy="320040"/>
          </a:xfrm>
          <a:prstGeom prst="rect">
            <a:avLst/>
          </a:prstGeom>
          <a:noFill/>
        </p:spPr>
        <p:txBody>
          <a:bodyPr wrap="square">
            <a:spAutoFit/>
          </a:bodyPr>
          <a:lstStyle/>
          <a:p>
            <a:pPr algn="ctr"/>
            <a:r>
              <a:rPr sz="1800" b="1">
                <a:solidFill>
                  <a:srgbClr val="B0C4D8"/>
                </a:solidFill>
              </a:rPr>
              <a:t>↓</a:t>
            </a:r>
          </a:p>
        </p:txBody>
      </p:sp>
      <p:sp>
        <p:nvSpPr>
          <p:cNvPr id="9" name="Rectangle 8"/>
          <p:cNvSpPr/>
          <p:nvPr/>
        </p:nvSpPr>
        <p:spPr>
          <a:xfrm>
            <a:off x="3246120" y="1188720"/>
            <a:ext cx="2743200" cy="59436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6120" y="1188720"/>
            <a:ext cx="2743200" cy="594360"/>
          </a:xfrm>
          <a:prstGeom prst="rect">
            <a:avLst/>
          </a:prstGeom>
          <a:noFill/>
        </p:spPr>
        <p:txBody>
          <a:bodyPr wrap="square">
            <a:spAutoFit/>
          </a:bodyPr>
          <a:lstStyle/>
          <a:p>
            <a:pPr algn="ctr"/>
            <a:r>
              <a:rPr sz="1300" b="1">
                <a:solidFill>
                  <a:srgbClr val="FFB800"/>
                </a:solidFill>
              </a:rPr>
              <a:t>News Output</a:t>
            </a:r>
          </a:p>
        </p:txBody>
      </p:sp>
      <p:sp>
        <p:nvSpPr>
          <p:cNvPr id="11" name="TextBox 10"/>
          <p:cNvSpPr txBox="1"/>
          <p:nvPr/>
        </p:nvSpPr>
        <p:spPr>
          <a:xfrm>
            <a:off x="4251960" y="1828800"/>
            <a:ext cx="731520" cy="320040"/>
          </a:xfrm>
          <a:prstGeom prst="rect">
            <a:avLst/>
          </a:prstGeom>
          <a:noFill/>
        </p:spPr>
        <p:txBody>
          <a:bodyPr wrap="square">
            <a:spAutoFit/>
          </a:bodyPr>
          <a:lstStyle/>
          <a:p>
            <a:pPr algn="ctr"/>
            <a:r>
              <a:rPr sz="1800" b="1">
                <a:solidFill>
                  <a:srgbClr val="B0C4D8"/>
                </a:solidFill>
              </a:rPr>
              <a:t>↓</a:t>
            </a:r>
          </a:p>
        </p:txBody>
      </p:sp>
      <p:sp>
        <p:nvSpPr>
          <p:cNvPr id="12" name="Rectangle 11"/>
          <p:cNvSpPr/>
          <p:nvPr/>
        </p:nvSpPr>
        <p:spPr>
          <a:xfrm>
            <a:off x="6217920" y="1188720"/>
            <a:ext cx="2743200" cy="594360"/>
          </a:xfrm>
          <a:prstGeom prst="rect">
            <a:avLst/>
          </a:prstGeom>
          <a:solidFill>
            <a:srgbClr val="162A3D"/>
          </a:solidFill>
          <a:ln w="12700">
            <a:solidFill>
              <a:srgbClr val="FF4E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188720"/>
            <a:ext cx="2743200" cy="594360"/>
          </a:xfrm>
          <a:prstGeom prst="rect">
            <a:avLst/>
          </a:prstGeom>
          <a:noFill/>
        </p:spPr>
        <p:txBody>
          <a:bodyPr wrap="square">
            <a:spAutoFit/>
          </a:bodyPr>
          <a:lstStyle/>
          <a:p>
            <a:pPr algn="ctr"/>
            <a:r>
              <a:rPr sz="1300" b="1">
                <a:solidFill>
                  <a:srgbClr val="FF4E6A"/>
                </a:solidFill>
              </a:rPr>
              <a:t>Risk Output</a:t>
            </a:r>
          </a:p>
        </p:txBody>
      </p:sp>
      <p:sp>
        <p:nvSpPr>
          <p:cNvPr id="14" name="TextBox 13"/>
          <p:cNvSpPr txBox="1"/>
          <p:nvPr/>
        </p:nvSpPr>
        <p:spPr>
          <a:xfrm>
            <a:off x="7223760" y="1828800"/>
            <a:ext cx="731520" cy="320040"/>
          </a:xfrm>
          <a:prstGeom prst="rect">
            <a:avLst/>
          </a:prstGeom>
          <a:noFill/>
        </p:spPr>
        <p:txBody>
          <a:bodyPr wrap="square">
            <a:spAutoFit/>
          </a:bodyPr>
          <a:lstStyle/>
          <a:p>
            <a:pPr algn="ctr"/>
            <a:r>
              <a:rPr sz="1800" b="1">
                <a:solidFill>
                  <a:srgbClr val="B0C4D8"/>
                </a:solidFill>
              </a:rPr>
              <a:t>↓</a:t>
            </a:r>
          </a:p>
        </p:txBody>
      </p:sp>
      <p:sp>
        <p:nvSpPr>
          <p:cNvPr id="15" name="Rectangle 14"/>
          <p:cNvSpPr/>
          <p:nvPr/>
        </p:nvSpPr>
        <p:spPr>
          <a:xfrm>
            <a:off x="9189720" y="1188720"/>
            <a:ext cx="2743200" cy="59436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1188720"/>
            <a:ext cx="2743200" cy="594360"/>
          </a:xfrm>
          <a:prstGeom prst="rect">
            <a:avLst/>
          </a:prstGeom>
          <a:noFill/>
        </p:spPr>
        <p:txBody>
          <a:bodyPr wrap="square">
            <a:spAutoFit/>
          </a:bodyPr>
          <a:lstStyle/>
          <a:p>
            <a:pPr algn="ctr"/>
            <a:r>
              <a:rPr sz="1300" b="1">
                <a:solidFill>
                  <a:srgbClr val="00C2FF"/>
                </a:solidFill>
              </a:rPr>
              <a:t>Fundamentals Output</a:t>
            </a:r>
          </a:p>
        </p:txBody>
      </p:sp>
      <p:sp>
        <p:nvSpPr>
          <p:cNvPr id="17" name="TextBox 16"/>
          <p:cNvSpPr txBox="1"/>
          <p:nvPr/>
        </p:nvSpPr>
        <p:spPr>
          <a:xfrm>
            <a:off x="10195560" y="1828800"/>
            <a:ext cx="731520" cy="320040"/>
          </a:xfrm>
          <a:prstGeom prst="rect">
            <a:avLst/>
          </a:prstGeom>
          <a:noFill/>
        </p:spPr>
        <p:txBody>
          <a:bodyPr wrap="square">
            <a:spAutoFit/>
          </a:bodyPr>
          <a:lstStyle/>
          <a:p>
            <a:pPr algn="ctr"/>
            <a:r>
              <a:rPr sz="1800" b="1">
                <a:solidFill>
                  <a:srgbClr val="B0C4D8"/>
                </a:solidFill>
              </a:rPr>
              <a:t>↓</a:t>
            </a:r>
          </a:p>
        </p:txBody>
      </p:sp>
      <p:sp>
        <p:nvSpPr>
          <p:cNvPr id="18" name="Rectangle 17"/>
          <p:cNvSpPr/>
          <p:nvPr/>
        </p:nvSpPr>
        <p:spPr>
          <a:xfrm>
            <a:off x="1371600" y="2176272"/>
            <a:ext cx="9418320" cy="123444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08760" y="2249424"/>
            <a:ext cx="9144000" cy="438912"/>
          </a:xfrm>
          <a:prstGeom prst="rect">
            <a:avLst/>
          </a:prstGeom>
          <a:noFill/>
        </p:spPr>
        <p:txBody>
          <a:bodyPr wrap="square">
            <a:spAutoFit/>
          </a:bodyPr>
          <a:lstStyle/>
          <a:p>
            <a:pPr algn="ctr"/>
            <a:r>
              <a:rPr sz="1800" b="1">
                <a:solidFill>
                  <a:srgbClr val="00C2FF"/>
                </a:solidFill>
              </a:rPr>
              <a:t>Supervisor Agent  —  LLM</a:t>
            </a:r>
          </a:p>
        </p:txBody>
      </p:sp>
      <p:sp>
        <p:nvSpPr>
          <p:cNvPr id="20" name="TextBox 19"/>
          <p:cNvSpPr txBox="1"/>
          <p:nvPr/>
        </p:nvSpPr>
        <p:spPr>
          <a:xfrm>
            <a:off x="1508760" y="2688336"/>
            <a:ext cx="9144000" cy="640080"/>
          </a:xfrm>
          <a:prstGeom prst="rect">
            <a:avLst/>
          </a:prstGeom>
          <a:noFill/>
        </p:spPr>
        <p:txBody>
          <a:bodyPr wrap="square">
            <a:spAutoFit/>
          </a:bodyPr>
          <a:lstStyle/>
          <a:p>
            <a:pPr algn="ctr"/>
            <a:r>
              <a:rPr sz="1200" b="0">
                <a:solidFill>
                  <a:srgbClr val="B0C4D8"/>
                </a:solidFill>
              </a:rPr>
              <a:t>Reads all four agent outputs simultaneously.
Weighs technical signals, news sentiment, risk level, and company fundamentals.
Produces one unified recommendation with a confidence score.</a:t>
            </a:r>
          </a:p>
        </p:txBody>
      </p:sp>
      <p:sp>
        <p:nvSpPr>
          <p:cNvPr id="21" name="TextBox 20"/>
          <p:cNvSpPr txBox="1"/>
          <p:nvPr/>
        </p:nvSpPr>
        <p:spPr>
          <a:xfrm>
            <a:off x="5760720" y="3456432"/>
            <a:ext cx="731520" cy="320040"/>
          </a:xfrm>
          <a:prstGeom prst="rect">
            <a:avLst/>
          </a:prstGeom>
          <a:noFill/>
        </p:spPr>
        <p:txBody>
          <a:bodyPr wrap="square">
            <a:spAutoFit/>
          </a:bodyPr>
          <a:lstStyle/>
          <a:p>
            <a:pPr algn="ctr"/>
            <a:r>
              <a:rPr sz="1800" b="1">
                <a:solidFill>
                  <a:srgbClr val="00C2FF"/>
                </a:solidFill>
              </a:rPr>
              <a:t>↓</a:t>
            </a:r>
          </a:p>
        </p:txBody>
      </p:sp>
      <p:sp>
        <p:nvSpPr>
          <p:cNvPr id="22" name="Rectangle 21"/>
          <p:cNvSpPr/>
          <p:nvPr/>
        </p:nvSpPr>
        <p:spPr>
          <a:xfrm>
            <a:off x="1371600" y="3813048"/>
            <a:ext cx="9418320" cy="132588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08760" y="3886200"/>
            <a:ext cx="9144000" cy="411480"/>
          </a:xfrm>
          <a:prstGeom prst="rect">
            <a:avLst/>
          </a:prstGeom>
          <a:noFill/>
        </p:spPr>
        <p:txBody>
          <a:bodyPr wrap="square">
            <a:spAutoFit/>
          </a:bodyPr>
          <a:lstStyle/>
          <a:p>
            <a:pPr algn="ctr"/>
            <a:r>
              <a:rPr sz="1600" b="1">
                <a:solidFill>
                  <a:srgbClr val="00E596"/>
                </a:solidFill>
              </a:rPr>
              <a:t>Final Recommendation</a:t>
            </a:r>
          </a:p>
        </p:txBody>
      </p:sp>
      <p:sp>
        <p:nvSpPr>
          <p:cNvPr id="24" name="TextBox 23"/>
          <p:cNvSpPr txBox="1"/>
          <p:nvPr/>
        </p:nvSpPr>
        <p:spPr>
          <a:xfrm>
            <a:off x="1508760" y="4315968"/>
            <a:ext cx="9144000" cy="685800"/>
          </a:xfrm>
          <a:prstGeom prst="rect">
            <a:avLst/>
          </a:prstGeom>
          <a:noFill/>
        </p:spPr>
        <p:txBody>
          <a:bodyPr wrap="square">
            <a:spAutoFit/>
          </a:bodyPr>
          <a:lstStyle/>
          <a:p>
            <a:pPr algn="ctr"/>
            <a:r>
              <a:rPr sz="1300" b="0">
                <a:solidFill>
                  <a:srgbClr val="B0C4D8"/>
                </a:solidFill>
              </a:rPr>
              <a:t>BUY / HOLD / SELL     ·     confidence score     ·     target price     ·     stop-loss
time horizon     ·     reasoning text     ·     technical, news &amp; risk summaries</a:t>
            </a:r>
          </a:p>
        </p:txBody>
      </p:sp>
      <p:sp>
        <p:nvSpPr>
          <p:cNvPr id="25" name="Rectangle 24"/>
          <p:cNvSpPr/>
          <p:nvPr/>
        </p:nvSpPr>
        <p:spPr>
          <a:xfrm>
            <a:off x="274320" y="5303520"/>
            <a:ext cx="11612880" cy="132588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5394960"/>
            <a:ext cx="11338560" cy="365760"/>
          </a:xfrm>
          <a:prstGeom prst="rect">
            <a:avLst/>
          </a:prstGeom>
          <a:noFill/>
        </p:spPr>
        <p:txBody>
          <a:bodyPr wrap="square">
            <a:spAutoFit/>
          </a:bodyPr>
          <a:lstStyle/>
          <a:p>
            <a:pPr algn="l"/>
            <a:r>
              <a:rPr sz="1500" b="1">
                <a:solidFill>
                  <a:srgbClr val="00C2FF"/>
                </a:solidFill>
              </a:rPr>
              <a:t>Why does the Supervisor Agent exist?</a:t>
            </a:r>
          </a:p>
        </p:txBody>
      </p:sp>
      <p:sp>
        <p:nvSpPr>
          <p:cNvPr id="27" name="TextBox 26"/>
          <p:cNvSpPr txBox="1"/>
          <p:nvPr/>
        </p:nvSpPr>
        <p:spPr>
          <a:xfrm>
            <a:off x="457200" y="5779008"/>
            <a:ext cx="11247120" cy="260603"/>
          </a:xfrm>
          <a:prstGeom prst="rect">
            <a:avLst/>
          </a:prstGeom>
          <a:noFill/>
        </p:spPr>
        <p:txBody>
          <a:bodyPr wrap="square">
            <a:spAutoFit/>
          </a:bodyPr>
          <a:lstStyle/>
          <a:p>
            <a:pPr algn="l"/>
            <a:r>
              <a:rPr sz="1300" b="0">
                <a:solidFill>
                  <a:srgbClr val="B0C4D8"/>
                </a:solidFill>
              </a:rPr>
              <a:t>Four agents produce four separate signals — someone has to make sense of conflicting data.</a:t>
            </a:r>
          </a:p>
        </p:txBody>
      </p:sp>
      <p:sp>
        <p:nvSpPr>
          <p:cNvPr id="28" name="TextBox 27"/>
          <p:cNvSpPr txBox="1"/>
          <p:nvPr/>
        </p:nvSpPr>
        <p:spPr>
          <a:xfrm>
            <a:off x="457200" y="6039611"/>
            <a:ext cx="11247120" cy="260603"/>
          </a:xfrm>
          <a:prstGeom prst="rect">
            <a:avLst/>
          </a:prstGeom>
          <a:noFill/>
        </p:spPr>
        <p:txBody>
          <a:bodyPr wrap="square">
            <a:spAutoFit/>
          </a:bodyPr>
          <a:lstStyle/>
          <a:p>
            <a:pPr algn="l"/>
            <a:r>
              <a:rPr sz="1300" b="0">
                <a:solidFill>
                  <a:srgbClr val="B0C4D8"/>
                </a:solidFill>
              </a:rPr>
              <a:t>The Supervisor is that someone. It weighs RSI momentum against bad news, or strong fundamentals against high risk.</a:t>
            </a:r>
          </a:p>
        </p:txBody>
      </p:sp>
      <p:sp>
        <p:nvSpPr>
          <p:cNvPr id="29" name="TextBox 28"/>
          <p:cNvSpPr txBox="1"/>
          <p:nvPr/>
        </p:nvSpPr>
        <p:spPr>
          <a:xfrm>
            <a:off x="457200" y="6300214"/>
            <a:ext cx="11247120" cy="260603"/>
          </a:xfrm>
          <a:prstGeom prst="rect">
            <a:avLst/>
          </a:prstGeom>
          <a:noFill/>
        </p:spPr>
        <p:txBody>
          <a:bodyPr wrap="square">
            <a:spAutoFit/>
          </a:bodyPr>
          <a:lstStyle/>
          <a:p>
            <a:pPr algn="l"/>
            <a:r>
              <a:rPr sz="1300" b="0">
                <a:solidFill>
                  <a:srgbClr val="B0C4D8"/>
                </a:solidFill>
              </a:rPr>
              <a:t>Important: the Supervisor produces an ANALYSIS recommendation only. It does NOT send any trade order.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LLM Judge Agent</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An independent second opinion on the Supervisor's recommendation</a:t>
            </a:r>
          </a:p>
        </p:txBody>
      </p:sp>
      <p:sp>
        <p:nvSpPr>
          <p:cNvPr id="6" name="Rectangle 5"/>
          <p:cNvSpPr/>
          <p:nvPr/>
        </p:nvSpPr>
        <p:spPr>
          <a:xfrm>
            <a:off x="274320" y="1097280"/>
            <a:ext cx="11612880" cy="713232"/>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188720"/>
            <a:ext cx="11247120" cy="548640"/>
          </a:xfrm>
          <a:prstGeom prst="rect">
            <a:avLst/>
          </a:prstGeom>
          <a:noFill/>
        </p:spPr>
        <p:txBody>
          <a:bodyPr wrap="square">
            <a:spAutoFit/>
          </a:bodyPr>
          <a:lstStyle/>
          <a:p>
            <a:pPr algn="l"/>
            <a:r>
              <a:rPr sz="1300" b="0">
                <a:solidFill>
                  <a:srgbClr val="B0C4D8"/>
                </a:solidFill>
              </a:rPr>
              <a:t>Problem: the Supervisor could produce a confident recommendation that is internally inconsistent or ignores key risk signals. The Judge exists to catch exactly that.</a:t>
            </a:r>
          </a:p>
        </p:txBody>
      </p:sp>
      <p:sp>
        <p:nvSpPr>
          <p:cNvPr id="8" name="Rectangle 7"/>
          <p:cNvSpPr/>
          <p:nvPr/>
        </p:nvSpPr>
        <p:spPr>
          <a:xfrm>
            <a:off x="274320" y="1993392"/>
            <a:ext cx="2651760" cy="59436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993392"/>
            <a:ext cx="2651760" cy="594360"/>
          </a:xfrm>
          <a:prstGeom prst="rect">
            <a:avLst/>
          </a:prstGeom>
          <a:noFill/>
        </p:spPr>
        <p:txBody>
          <a:bodyPr wrap="square">
            <a:spAutoFit/>
          </a:bodyPr>
          <a:lstStyle/>
          <a:p>
            <a:pPr algn="ctr"/>
            <a:r>
              <a:rPr sz="1300" b="1">
                <a:solidFill>
                  <a:srgbClr val="00C2FF"/>
                </a:solidFill>
              </a:rPr>
              <a:t>All agent outputs</a:t>
            </a:r>
          </a:p>
        </p:txBody>
      </p:sp>
      <p:sp>
        <p:nvSpPr>
          <p:cNvPr id="10" name="Rectangle 9"/>
          <p:cNvSpPr/>
          <p:nvPr/>
        </p:nvSpPr>
        <p:spPr>
          <a:xfrm>
            <a:off x="274320" y="2743200"/>
            <a:ext cx="2651760" cy="59436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2743200"/>
            <a:ext cx="2651760" cy="594360"/>
          </a:xfrm>
          <a:prstGeom prst="rect">
            <a:avLst/>
          </a:prstGeom>
          <a:noFill/>
        </p:spPr>
        <p:txBody>
          <a:bodyPr wrap="square">
            <a:spAutoFit/>
          </a:bodyPr>
          <a:lstStyle/>
          <a:p>
            <a:pPr algn="ctr"/>
            <a:r>
              <a:rPr sz="1300" b="1">
                <a:solidFill>
                  <a:srgbClr val="00C2FF"/>
                </a:solidFill>
              </a:rPr>
              <a:t>Supervisor result</a:t>
            </a:r>
          </a:p>
        </p:txBody>
      </p:sp>
      <p:sp>
        <p:nvSpPr>
          <p:cNvPr id="12" name="TextBox 11"/>
          <p:cNvSpPr txBox="1"/>
          <p:nvPr/>
        </p:nvSpPr>
        <p:spPr>
          <a:xfrm>
            <a:off x="3017520" y="2560320"/>
            <a:ext cx="548640" cy="502920"/>
          </a:xfrm>
          <a:prstGeom prst="rect">
            <a:avLst/>
          </a:prstGeom>
          <a:noFill/>
        </p:spPr>
        <p:txBody>
          <a:bodyPr wrap="square">
            <a:spAutoFit/>
          </a:bodyPr>
          <a:lstStyle/>
          <a:p>
            <a:pPr algn="ctr"/>
            <a:r>
              <a:rPr sz="3200" b="1">
                <a:solidFill>
                  <a:srgbClr val="FFB800"/>
                </a:solidFill>
              </a:rPr>
              <a:t>→</a:t>
            </a:r>
          </a:p>
        </p:txBody>
      </p:sp>
      <p:sp>
        <p:nvSpPr>
          <p:cNvPr id="13" name="Rectangle 12"/>
          <p:cNvSpPr/>
          <p:nvPr/>
        </p:nvSpPr>
        <p:spPr>
          <a:xfrm>
            <a:off x="3657600" y="1993392"/>
            <a:ext cx="5120640" cy="137160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94760" y="2066543"/>
            <a:ext cx="4846320" cy="411480"/>
          </a:xfrm>
          <a:prstGeom prst="rect">
            <a:avLst/>
          </a:prstGeom>
          <a:noFill/>
        </p:spPr>
        <p:txBody>
          <a:bodyPr wrap="square">
            <a:spAutoFit/>
          </a:bodyPr>
          <a:lstStyle/>
          <a:p>
            <a:pPr algn="l"/>
            <a:r>
              <a:rPr sz="1600" b="1">
                <a:solidFill>
                  <a:srgbClr val="FFB800"/>
                </a:solidFill>
              </a:rPr>
              <a:t>LLM Judge Agent</a:t>
            </a:r>
          </a:p>
        </p:txBody>
      </p:sp>
      <p:sp>
        <p:nvSpPr>
          <p:cNvPr id="15" name="TextBox 14"/>
          <p:cNvSpPr txBox="1"/>
          <p:nvPr/>
        </p:nvSpPr>
        <p:spPr>
          <a:xfrm>
            <a:off x="3794760" y="2487168"/>
            <a:ext cx="4846320" cy="777240"/>
          </a:xfrm>
          <a:prstGeom prst="rect">
            <a:avLst/>
          </a:prstGeom>
          <a:noFill/>
        </p:spPr>
        <p:txBody>
          <a:bodyPr wrap="square">
            <a:spAutoFit/>
          </a:bodyPr>
          <a:lstStyle/>
          <a:p>
            <a:pPr algn="l"/>
            <a:r>
              <a:rPr sz="1200" b="0">
                <a:solidFill>
                  <a:srgbClr val="B0C4D8"/>
                </a:solidFill>
              </a:rPr>
              <a:t>A separate LLM call with temperature = 0.
Has no knowledge of how the Supervisor reasoned.
Reviews the evidence and the conclusion independently.</a:t>
            </a:r>
          </a:p>
        </p:txBody>
      </p:sp>
      <p:sp>
        <p:nvSpPr>
          <p:cNvPr id="16" name="TextBox 15"/>
          <p:cNvSpPr txBox="1"/>
          <p:nvPr/>
        </p:nvSpPr>
        <p:spPr>
          <a:xfrm>
            <a:off x="8915400" y="2560320"/>
            <a:ext cx="548640" cy="502920"/>
          </a:xfrm>
          <a:prstGeom prst="rect">
            <a:avLst/>
          </a:prstGeom>
          <a:noFill/>
        </p:spPr>
        <p:txBody>
          <a:bodyPr wrap="square">
            <a:spAutoFit/>
          </a:bodyPr>
          <a:lstStyle/>
          <a:p>
            <a:pPr algn="ctr"/>
            <a:r>
              <a:rPr sz="3200" b="1">
                <a:solidFill>
                  <a:srgbClr val="FFB800"/>
                </a:solidFill>
              </a:rPr>
              <a:t>→</a:t>
            </a:r>
          </a:p>
        </p:txBody>
      </p:sp>
      <p:sp>
        <p:nvSpPr>
          <p:cNvPr id="17" name="Rectangle 16"/>
          <p:cNvSpPr/>
          <p:nvPr/>
        </p:nvSpPr>
        <p:spPr>
          <a:xfrm>
            <a:off x="9555480" y="1993392"/>
            <a:ext cx="2377440" cy="137160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2066543"/>
            <a:ext cx="2103120" cy="384048"/>
          </a:xfrm>
          <a:prstGeom prst="rect">
            <a:avLst/>
          </a:prstGeom>
          <a:noFill/>
        </p:spPr>
        <p:txBody>
          <a:bodyPr wrap="square">
            <a:spAutoFit/>
          </a:bodyPr>
          <a:lstStyle/>
          <a:p>
            <a:pPr algn="l"/>
            <a:r>
              <a:rPr sz="1400" b="1">
                <a:solidFill>
                  <a:srgbClr val="FFB800"/>
                </a:solidFill>
              </a:rPr>
              <a:t>Verdict</a:t>
            </a:r>
          </a:p>
        </p:txBody>
      </p:sp>
      <p:sp>
        <p:nvSpPr>
          <p:cNvPr id="19" name="TextBox 18"/>
          <p:cNvSpPr txBox="1"/>
          <p:nvPr/>
        </p:nvSpPr>
        <p:spPr>
          <a:xfrm>
            <a:off x="9692640" y="2468880"/>
            <a:ext cx="2103120" cy="777240"/>
          </a:xfrm>
          <a:prstGeom prst="rect">
            <a:avLst/>
          </a:prstGeom>
          <a:noFill/>
        </p:spPr>
        <p:txBody>
          <a:bodyPr wrap="square">
            <a:spAutoFit/>
          </a:bodyPr>
          <a:lstStyle/>
          <a:p>
            <a:pPr algn="l"/>
            <a:r>
              <a:rPr sz="1200" b="0">
                <a:solidFill>
                  <a:srgbClr val="B0C4D8"/>
                </a:solidFill>
              </a:rPr>
              <a:t>pass / fail
overall score</a:t>
            </a:r>
          </a:p>
        </p:txBody>
      </p:sp>
      <p:sp>
        <p:nvSpPr>
          <p:cNvPr id="20" name="Rectangle 19"/>
          <p:cNvSpPr/>
          <p:nvPr/>
        </p:nvSpPr>
        <p:spPr>
          <a:xfrm>
            <a:off x="274320" y="3639312"/>
            <a:ext cx="3703320" cy="160020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712463"/>
            <a:ext cx="3429000" cy="411480"/>
          </a:xfrm>
          <a:prstGeom prst="rect">
            <a:avLst/>
          </a:prstGeom>
          <a:noFill/>
        </p:spPr>
        <p:txBody>
          <a:bodyPr wrap="square">
            <a:spAutoFit/>
          </a:bodyPr>
          <a:lstStyle/>
          <a:p>
            <a:pPr algn="l"/>
            <a:r>
              <a:rPr sz="1400" b="1">
                <a:solidFill>
                  <a:srgbClr val="00C2FF"/>
                </a:solidFill>
              </a:rPr>
              <a:t>Coherence Score</a:t>
            </a:r>
          </a:p>
        </p:txBody>
      </p:sp>
      <p:sp>
        <p:nvSpPr>
          <p:cNvPr id="22" name="TextBox 21"/>
          <p:cNvSpPr txBox="1"/>
          <p:nvPr/>
        </p:nvSpPr>
        <p:spPr>
          <a:xfrm>
            <a:off x="411480" y="4133087"/>
            <a:ext cx="3429000" cy="1005840"/>
          </a:xfrm>
          <a:prstGeom prst="rect">
            <a:avLst/>
          </a:prstGeom>
          <a:noFill/>
        </p:spPr>
        <p:txBody>
          <a:bodyPr wrap="square">
            <a:spAutoFit/>
          </a:bodyPr>
          <a:lstStyle/>
          <a:p>
            <a:pPr algn="l"/>
            <a:r>
              <a:rPr sz="1200" b="0">
                <a:solidFill>
                  <a:srgbClr val="B0C4D8"/>
                </a:solidFill>
              </a:rPr>
              <a:t>Does the recommendation
logically follow from the
analysis presented?</a:t>
            </a:r>
          </a:p>
        </p:txBody>
      </p:sp>
      <p:sp>
        <p:nvSpPr>
          <p:cNvPr id="23" name="Rectangle 22"/>
          <p:cNvSpPr/>
          <p:nvPr/>
        </p:nvSpPr>
        <p:spPr>
          <a:xfrm>
            <a:off x="4251959" y="3639312"/>
            <a:ext cx="3703320" cy="160020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19" y="3712463"/>
            <a:ext cx="3429000" cy="411480"/>
          </a:xfrm>
          <a:prstGeom prst="rect">
            <a:avLst/>
          </a:prstGeom>
          <a:noFill/>
        </p:spPr>
        <p:txBody>
          <a:bodyPr wrap="square">
            <a:spAutoFit/>
          </a:bodyPr>
          <a:lstStyle/>
          <a:p>
            <a:pPr algn="l"/>
            <a:r>
              <a:rPr sz="1400" b="1">
                <a:solidFill>
                  <a:srgbClr val="00E596"/>
                </a:solidFill>
              </a:rPr>
              <a:t>Evidence Score</a:t>
            </a:r>
          </a:p>
        </p:txBody>
      </p:sp>
      <p:sp>
        <p:nvSpPr>
          <p:cNvPr id="25" name="TextBox 24"/>
          <p:cNvSpPr txBox="1"/>
          <p:nvPr/>
        </p:nvSpPr>
        <p:spPr>
          <a:xfrm>
            <a:off x="4389119" y="4133087"/>
            <a:ext cx="3429000" cy="1005840"/>
          </a:xfrm>
          <a:prstGeom prst="rect">
            <a:avLst/>
          </a:prstGeom>
          <a:noFill/>
        </p:spPr>
        <p:txBody>
          <a:bodyPr wrap="square">
            <a:spAutoFit/>
          </a:bodyPr>
          <a:lstStyle/>
          <a:p>
            <a:pPr algn="l"/>
            <a:r>
              <a:rPr sz="1200" b="0">
                <a:solidFill>
                  <a:srgbClr val="B0C4D8"/>
                </a:solidFill>
              </a:rPr>
              <a:t>Is the conclusion backed
by specific data points
from the agent outputs?</a:t>
            </a:r>
          </a:p>
        </p:txBody>
      </p:sp>
      <p:sp>
        <p:nvSpPr>
          <p:cNvPr id="26" name="Rectangle 25"/>
          <p:cNvSpPr/>
          <p:nvPr/>
        </p:nvSpPr>
        <p:spPr>
          <a:xfrm>
            <a:off x="8229600" y="3639312"/>
            <a:ext cx="3703320" cy="1600200"/>
          </a:xfrm>
          <a:prstGeom prst="rect">
            <a:avLst/>
          </a:prstGeom>
          <a:solidFill>
            <a:srgbClr val="162A3D"/>
          </a:solidFill>
          <a:ln w="12700">
            <a:solidFill>
              <a:srgbClr val="FF4E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3712463"/>
            <a:ext cx="3429000" cy="411480"/>
          </a:xfrm>
          <a:prstGeom prst="rect">
            <a:avLst/>
          </a:prstGeom>
          <a:noFill/>
        </p:spPr>
        <p:txBody>
          <a:bodyPr wrap="square">
            <a:spAutoFit/>
          </a:bodyPr>
          <a:lstStyle/>
          <a:p>
            <a:pPr algn="l"/>
            <a:r>
              <a:rPr sz="1400" b="1">
                <a:solidFill>
                  <a:srgbClr val="FF4E6A"/>
                </a:solidFill>
              </a:rPr>
              <a:t>Risk Alignment</a:t>
            </a:r>
          </a:p>
        </p:txBody>
      </p:sp>
      <p:sp>
        <p:nvSpPr>
          <p:cNvPr id="28" name="TextBox 27"/>
          <p:cNvSpPr txBox="1"/>
          <p:nvPr/>
        </p:nvSpPr>
        <p:spPr>
          <a:xfrm>
            <a:off x="8366760" y="4133087"/>
            <a:ext cx="3429000" cy="1005840"/>
          </a:xfrm>
          <a:prstGeom prst="rect">
            <a:avLst/>
          </a:prstGeom>
          <a:noFill/>
        </p:spPr>
        <p:txBody>
          <a:bodyPr wrap="square">
            <a:spAutoFit/>
          </a:bodyPr>
          <a:lstStyle/>
          <a:p>
            <a:pPr algn="l"/>
            <a:r>
              <a:rPr sz="1200" b="0">
                <a:solidFill>
                  <a:srgbClr val="B0C4D8"/>
                </a:solidFill>
              </a:rPr>
              <a:t>Is the recommendation
consistent with the
risk level identified?</a:t>
            </a:r>
          </a:p>
        </p:txBody>
      </p:sp>
      <p:sp>
        <p:nvSpPr>
          <p:cNvPr id="29" name="Rectangle 28"/>
          <p:cNvSpPr/>
          <p:nvPr/>
        </p:nvSpPr>
        <p:spPr>
          <a:xfrm>
            <a:off x="274320" y="5422392"/>
            <a:ext cx="11612880" cy="118872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5513832"/>
            <a:ext cx="11338560" cy="365760"/>
          </a:xfrm>
          <a:prstGeom prst="rect">
            <a:avLst/>
          </a:prstGeom>
          <a:noFill/>
        </p:spPr>
        <p:txBody>
          <a:bodyPr wrap="square">
            <a:spAutoFit/>
          </a:bodyPr>
          <a:lstStyle/>
          <a:p>
            <a:pPr algn="l"/>
            <a:r>
              <a:rPr sz="1500" b="1">
                <a:solidFill>
                  <a:srgbClr val="FFB800"/>
                </a:solidFill>
              </a:rPr>
              <a:t>Why does the LLM Judge exist?</a:t>
            </a:r>
          </a:p>
        </p:txBody>
      </p:sp>
      <p:sp>
        <p:nvSpPr>
          <p:cNvPr id="31" name="TextBox 30"/>
          <p:cNvSpPr txBox="1"/>
          <p:nvPr/>
        </p:nvSpPr>
        <p:spPr>
          <a:xfrm>
            <a:off x="457200" y="5897880"/>
            <a:ext cx="11247120" cy="260603"/>
          </a:xfrm>
          <a:prstGeom prst="rect">
            <a:avLst/>
          </a:prstGeom>
          <a:noFill/>
        </p:spPr>
        <p:txBody>
          <a:bodyPr wrap="square">
            <a:spAutoFit/>
          </a:bodyPr>
          <a:lstStyle/>
          <a:p>
            <a:pPr algn="l"/>
            <a:r>
              <a:rPr sz="1300" b="0">
                <a:solidFill>
                  <a:srgbClr val="B0C4D8"/>
                </a:solidFill>
              </a:rPr>
              <a:t>A single LLM can rationalize a bad decision. A second independent LLM is harder to fool.</a:t>
            </a:r>
          </a:p>
        </p:txBody>
      </p:sp>
      <p:sp>
        <p:nvSpPr>
          <p:cNvPr id="32" name="TextBox 31"/>
          <p:cNvSpPr txBox="1"/>
          <p:nvPr/>
        </p:nvSpPr>
        <p:spPr>
          <a:xfrm>
            <a:off x="457200" y="6158483"/>
            <a:ext cx="11247120" cy="260603"/>
          </a:xfrm>
          <a:prstGeom prst="rect">
            <a:avLst/>
          </a:prstGeom>
          <a:noFill/>
        </p:spPr>
        <p:txBody>
          <a:bodyPr wrap="square">
            <a:spAutoFit/>
          </a:bodyPr>
          <a:lstStyle/>
          <a:p>
            <a:pPr algn="l"/>
            <a:r>
              <a:rPr sz="1300" b="0">
                <a:solidFill>
                  <a:srgbClr val="B0C4D8"/>
                </a:solidFill>
              </a:rPr>
              <a:t>The Judge adds an accountability layer: if the score is low, the UI shows a red warning card.</a:t>
            </a:r>
          </a:p>
        </p:txBody>
      </p:sp>
      <p:sp>
        <p:nvSpPr>
          <p:cNvPr id="33" name="TextBox 32"/>
          <p:cNvSpPr txBox="1"/>
          <p:nvPr/>
        </p:nvSpPr>
        <p:spPr>
          <a:xfrm>
            <a:off x="457200" y="6419086"/>
            <a:ext cx="11247120" cy="260603"/>
          </a:xfrm>
          <a:prstGeom prst="rect">
            <a:avLst/>
          </a:prstGeom>
          <a:noFill/>
        </p:spPr>
        <p:txBody>
          <a:bodyPr wrap="square">
            <a:spAutoFit/>
          </a:bodyPr>
          <a:lstStyle/>
          <a:p>
            <a:pPr algn="l"/>
            <a:r>
              <a:rPr sz="1300" b="0">
                <a:solidFill>
                  <a:srgbClr val="B0C4D8"/>
                </a:solidFill>
              </a:rPr>
              <a:t>This is LLM-in-the-loop evaluation — the system critiques its own output before presenting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Portfolio Advisor — Personalized Investment Chatbot</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Not an agent: a streaming LLM chat with user preferences baked into the system prompt</a:t>
            </a:r>
          </a:p>
        </p:txBody>
      </p:sp>
      <p:sp>
        <p:nvSpPr>
          <p:cNvPr id="6" name="Rectangle 5"/>
          <p:cNvSpPr/>
          <p:nvPr/>
        </p:nvSpPr>
        <p:spPr>
          <a:xfrm>
            <a:off x="228600" y="1097280"/>
            <a:ext cx="5577840" cy="5486400"/>
          </a:xfrm>
          <a:prstGeom prst="rect">
            <a:avLst/>
          </a:prstGeom>
          <a:solidFill>
            <a:srgbClr val="0A1E15"/>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70432"/>
            <a:ext cx="5303520" cy="384048"/>
          </a:xfrm>
          <a:prstGeom prst="rect">
            <a:avLst/>
          </a:prstGeom>
          <a:noFill/>
        </p:spPr>
        <p:txBody>
          <a:bodyPr wrap="square">
            <a:spAutoFit/>
          </a:bodyPr>
          <a:lstStyle/>
          <a:p>
            <a:pPr algn="l"/>
            <a:r>
              <a:rPr sz="1600" b="1">
                <a:solidFill>
                  <a:srgbClr val="00E596"/>
                </a:solidFill>
              </a:rPr>
              <a:t>How It Works</a:t>
            </a:r>
          </a:p>
        </p:txBody>
      </p:sp>
      <p:sp>
        <p:nvSpPr>
          <p:cNvPr id="8" name="TextBox 7"/>
          <p:cNvSpPr txBox="1"/>
          <p:nvPr/>
        </p:nvSpPr>
        <p:spPr>
          <a:xfrm>
            <a:off x="384048" y="1627632"/>
            <a:ext cx="5166360" cy="292608"/>
          </a:xfrm>
          <a:prstGeom prst="rect">
            <a:avLst/>
          </a:prstGeom>
          <a:noFill/>
        </p:spPr>
        <p:txBody>
          <a:bodyPr wrap="square">
            <a:spAutoFit/>
          </a:bodyPr>
          <a:lstStyle/>
          <a:p>
            <a:pPr algn="l"/>
            <a:r>
              <a:rPr sz="1200" b="1">
                <a:solidFill>
                  <a:srgbClr val="00E596"/>
                </a:solidFill>
              </a:rPr>
              <a:t>1  User sets a profile</a:t>
            </a:r>
          </a:p>
        </p:txBody>
      </p:sp>
      <p:sp>
        <p:nvSpPr>
          <p:cNvPr id="9" name="TextBox 8"/>
          <p:cNvSpPr txBox="1"/>
          <p:nvPr/>
        </p:nvSpPr>
        <p:spPr>
          <a:xfrm>
            <a:off x="384048" y="1920240"/>
            <a:ext cx="5166360" cy="868680"/>
          </a:xfrm>
          <a:prstGeom prst="rect">
            <a:avLst/>
          </a:prstGeom>
          <a:noFill/>
        </p:spPr>
        <p:txBody>
          <a:bodyPr wrap="square">
            <a:spAutoFit/>
          </a:bodyPr>
          <a:lstStyle/>
          <a:p>
            <a:pPr algn="l"/>
            <a:r>
              <a:rPr sz="1100" b="0">
                <a:solidFill>
                  <a:srgbClr val="B0C4D8"/>
                </a:solidFill>
              </a:rPr>
              <a:t>Before chatting, the user configures three preferences:
  •  Risk tolerance  —  Low / Medium / High
  •  Sectors of interest  —  Tech, Energy, Healthcare, Financials…
  •  Investment horizon  —  Short-term / Medium-term / Long-term</a:t>
            </a:r>
          </a:p>
        </p:txBody>
      </p:sp>
      <p:sp>
        <p:nvSpPr>
          <p:cNvPr id="10" name="TextBox 9"/>
          <p:cNvSpPr txBox="1"/>
          <p:nvPr/>
        </p:nvSpPr>
        <p:spPr>
          <a:xfrm>
            <a:off x="384048" y="2862072"/>
            <a:ext cx="5166360" cy="292608"/>
          </a:xfrm>
          <a:prstGeom prst="rect">
            <a:avLst/>
          </a:prstGeom>
          <a:noFill/>
        </p:spPr>
        <p:txBody>
          <a:bodyPr wrap="square">
            <a:spAutoFit/>
          </a:bodyPr>
          <a:lstStyle/>
          <a:p>
            <a:pPr algn="l"/>
            <a:r>
              <a:rPr sz="1200" b="1">
                <a:solidFill>
                  <a:srgbClr val="00C2FF"/>
                </a:solidFill>
              </a:rPr>
              <a:t>2  Preferences baked into every prompt</a:t>
            </a:r>
          </a:p>
        </p:txBody>
      </p:sp>
      <p:sp>
        <p:nvSpPr>
          <p:cNvPr id="11" name="TextBox 10"/>
          <p:cNvSpPr txBox="1"/>
          <p:nvPr/>
        </p:nvSpPr>
        <p:spPr>
          <a:xfrm>
            <a:off x="384048" y="3154680"/>
            <a:ext cx="5166360" cy="868680"/>
          </a:xfrm>
          <a:prstGeom prst="rect">
            <a:avLst/>
          </a:prstGeom>
          <a:noFill/>
        </p:spPr>
        <p:txBody>
          <a:bodyPr wrap="square">
            <a:spAutoFit/>
          </a:bodyPr>
          <a:lstStyle/>
          <a:p>
            <a:pPr algn="l"/>
            <a:r>
              <a:rPr sz="1100" b="0">
                <a:solidFill>
                  <a:srgbClr val="B0C4D8"/>
                </a:solidFill>
              </a:rPr>
              <a:t>Every message the user sends is augmented with their profile.
The LLM always knows: 'This user wants high-growth Tech stocks
for a short-term horizon with medium risk tolerance.'</a:t>
            </a:r>
          </a:p>
        </p:txBody>
      </p:sp>
      <p:sp>
        <p:nvSpPr>
          <p:cNvPr id="12" name="TextBox 11"/>
          <p:cNvSpPr txBox="1"/>
          <p:nvPr/>
        </p:nvSpPr>
        <p:spPr>
          <a:xfrm>
            <a:off x="384048" y="4096512"/>
            <a:ext cx="5166360" cy="292608"/>
          </a:xfrm>
          <a:prstGeom prst="rect">
            <a:avLst/>
          </a:prstGeom>
          <a:noFill/>
        </p:spPr>
        <p:txBody>
          <a:bodyPr wrap="square">
            <a:spAutoFit/>
          </a:bodyPr>
          <a:lstStyle/>
          <a:p>
            <a:pPr algn="l"/>
            <a:r>
              <a:rPr sz="1200" b="1">
                <a:solidFill>
                  <a:srgbClr val="FFB800"/>
                </a:solidFill>
              </a:rPr>
              <a:t>3  Streaming conversation</a:t>
            </a:r>
          </a:p>
        </p:txBody>
      </p:sp>
      <p:sp>
        <p:nvSpPr>
          <p:cNvPr id="13" name="TextBox 12"/>
          <p:cNvSpPr txBox="1"/>
          <p:nvPr/>
        </p:nvSpPr>
        <p:spPr>
          <a:xfrm>
            <a:off x="384048" y="4389120"/>
            <a:ext cx="5166360" cy="868680"/>
          </a:xfrm>
          <a:prstGeom prst="rect">
            <a:avLst/>
          </a:prstGeom>
          <a:noFill/>
        </p:spPr>
        <p:txBody>
          <a:bodyPr wrap="square">
            <a:spAutoFit/>
          </a:bodyPr>
          <a:lstStyle/>
          <a:p>
            <a:pPr algn="l"/>
            <a:r>
              <a:rPr sz="1100" b="0">
                <a:solidFill>
                  <a:srgbClr val="B0C4D8"/>
                </a:solidFill>
              </a:rPr>
              <a:t>The advisor replies in real time (token-by-token streaming).
Full conversation history is passed on each turn,
so follow-up questions are understood in context.</a:t>
            </a:r>
          </a:p>
        </p:txBody>
      </p:sp>
      <p:sp>
        <p:nvSpPr>
          <p:cNvPr id="14" name="TextBox 13"/>
          <p:cNvSpPr txBox="1"/>
          <p:nvPr/>
        </p:nvSpPr>
        <p:spPr>
          <a:xfrm>
            <a:off x="384048" y="5330952"/>
            <a:ext cx="5166360" cy="292608"/>
          </a:xfrm>
          <a:prstGeom prst="rect">
            <a:avLst/>
          </a:prstGeom>
          <a:noFill/>
        </p:spPr>
        <p:txBody>
          <a:bodyPr wrap="square">
            <a:spAutoFit/>
          </a:bodyPr>
          <a:lstStyle/>
          <a:p>
            <a:pPr algn="l"/>
            <a:r>
              <a:rPr sz="1200" b="1">
                <a:solidFill>
                  <a:srgbClr val="00E596"/>
                </a:solidFill>
              </a:rPr>
              <a:t>4  Clickable ticker pills</a:t>
            </a:r>
          </a:p>
        </p:txBody>
      </p:sp>
      <p:sp>
        <p:nvSpPr>
          <p:cNvPr id="15" name="TextBox 14"/>
          <p:cNvSpPr txBox="1"/>
          <p:nvPr/>
        </p:nvSpPr>
        <p:spPr>
          <a:xfrm>
            <a:off x="384048" y="5623560"/>
            <a:ext cx="5166360" cy="868680"/>
          </a:xfrm>
          <a:prstGeom prst="rect">
            <a:avLst/>
          </a:prstGeom>
          <a:noFill/>
        </p:spPr>
        <p:txBody>
          <a:bodyPr wrap="square">
            <a:spAutoFit/>
          </a:bodyPr>
          <a:lstStyle/>
          <a:p>
            <a:pPr algn="l"/>
            <a:r>
              <a:rPr sz="1100" b="0">
                <a:solidFill>
                  <a:srgbClr val="B0C4D8"/>
                </a:solidFill>
              </a:rPr>
              <a:t>Whenever the advisor mentions a stock (e.g. $NVDA),
the UI renders it as a clickable button.
One click sends the ticker straight into the Analysis Pipeline.</a:t>
            </a:r>
          </a:p>
        </p:txBody>
      </p:sp>
      <p:sp>
        <p:nvSpPr>
          <p:cNvPr id="16" name="Rectangle 15"/>
          <p:cNvSpPr/>
          <p:nvPr/>
        </p:nvSpPr>
        <p:spPr>
          <a:xfrm>
            <a:off x="6035040" y="1097280"/>
            <a:ext cx="5897880" cy="2834640"/>
          </a:xfrm>
          <a:prstGeom prst="rect">
            <a:avLst/>
          </a:prstGeom>
          <a:solidFill>
            <a:srgbClr val="0A1E30"/>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1170432"/>
            <a:ext cx="5577840" cy="384048"/>
          </a:xfrm>
          <a:prstGeom prst="rect">
            <a:avLst/>
          </a:prstGeom>
          <a:noFill/>
        </p:spPr>
        <p:txBody>
          <a:bodyPr wrap="square">
            <a:spAutoFit/>
          </a:bodyPr>
          <a:lstStyle/>
          <a:p>
            <a:pPr algn="l"/>
            <a:r>
              <a:rPr sz="1600" b="1">
                <a:solidFill>
                  <a:srgbClr val="00C2FF"/>
                </a:solidFill>
              </a:rPr>
              <a:t>What it actually is</a:t>
            </a:r>
          </a:p>
        </p:txBody>
      </p:sp>
      <p:sp>
        <p:nvSpPr>
          <p:cNvPr id="18" name="TextBox 17"/>
          <p:cNvSpPr txBox="1"/>
          <p:nvPr/>
        </p:nvSpPr>
        <p:spPr>
          <a:xfrm>
            <a:off x="6172200" y="1572768"/>
            <a:ext cx="5577840" cy="2212848"/>
          </a:xfrm>
          <a:prstGeom prst="rect">
            <a:avLst/>
          </a:prstGeom>
          <a:noFill/>
        </p:spPr>
        <p:txBody>
          <a:bodyPr wrap="square">
            <a:spAutoFit/>
          </a:bodyPr>
          <a:lstStyle/>
          <a:p>
            <a:pPr algn="l"/>
            <a:r>
              <a:rPr sz="1200" b="0">
                <a:solidFill>
                  <a:srgbClr val="B0C4D8"/>
                </a:solidFill>
              </a:rPr>
              <a:t>A single streaming LLM call — no tools, no loop, no autonomous actions.
The user's preferences (risk, sectors, horizon) are injected
into the system prompt on every request.
Conversation history is passed manually each turn so the
LLM can follow up on previous messages.
This makes it a personalized chatbot, not an agent.
An agent would use tools (e.g. fetch live prices, run a screener).
This one reasons only from its training knowledge + user context.</a:t>
            </a:r>
          </a:p>
        </p:txBody>
      </p:sp>
      <p:sp>
        <p:nvSpPr>
          <p:cNvPr id="19" name="Rectangle 18"/>
          <p:cNvSpPr/>
          <p:nvPr/>
        </p:nvSpPr>
        <p:spPr>
          <a:xfrm>
            <a:off x="6035040" y="4114800"/>
            <a:ext cx="5897880" cy="749808"/>
          </a:xfrm>
          <a:prstGeom prst="rect">
            <a:avLst/>
          </a:prstGeom>
          <a:solidFill>
            <a:srgbClr val="162A3D"/>
          </a:solidFill>
          <a:ln w="12700">
            <a:solidFill>
              <a:srgbClr val="FF4E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4178808"/>
            <a:ext cx="2286000" cy="292608"/>
          </a:xfrm>
          <a:prstGeom prst="rect">
            <a:avLst/>
          </a:prstGeom>
          <a:noFill/>
        </p:spPr>
        <p:txBody>
          <a:bodyPr wrap="square">
            <a:spAutoFit/>
          </a:bodyPr>
          <a:lstStyle/>
          <a:p>
            <a:pPr algn="l"/>
            <a:r>
              <a:rPr sz="1200" b="1">
                <a:solidFill>
                  <a:srgbClr val="FF4E6A"/>
                </a:solidFill>
              </a:rPr>
              <a:t>No tools / no loop</a:t>
            </a:r>
          </a:p>
        </p:txBody>
      </p:sp>
      <p:sp>
        <p:nvSpPr>
          <p:cNvPr id="21" name="TextBox 20"/>
          <p:cNvSpPr txBox="1"/>
          <p:nvPr/>
        </p:nvSpPr>
        <p:spPr>
          <a:xfrm>
            <a:off x="8595360" y="4151376"/>
            <a:ext cx="3154680" cy="658368"/>
          </a:xfrm>
          <a:prstGeom prst="rect">
            <a:avLst/>
          </a:prstGeom>
          <a:noFill/>
        </p:spPr>
        <p:txBody>
          <a:bodyPr wrap="square">
            <a:spAutoFit/>
          </a:bodyPr>
          <a:lstStyle/>
          <a:p>
            <a:pPr algn="l"/>
            <a:r>
              <a:rPr sz="1100" b="0">
                <a:solidFill>
                  <a:srgbClr val="B0C4D8"/>
                </a:solidFill>
              </a:rPr>
              <a:t>Pure LLM chat. No LangGraph,
no tool calls, no real-time data.</a:t>
            </a:r>
          </a:p>
        </p:txBody>
      </p:sp>
      <p:sp>
        <p:nvSpPr>
          <p:cNvPr id="22" name="Rectangle 21"/>
          <p:cNvSpPr/>
          <p:nvPr/>
        </p:nvSpPr>
        <p:spPr>
          <a:xfrm>
            <a:off x="6035040" y="4956048"/>
            <a:ext cx="5897880" cy="749808"/>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5020056"/>
            <a:ext cx="2286000" cy="292608"/>
          </a:xfrm>
          <a:prstGeom prst="rect">
            <a:avLst/>
          </a:prstGeom>
          <a:noFill/>
        </p:spPr>
        <p:txBody>
          <a:bodyPr wrap="square">
            <a:spAutoFit/>
          </a:bodyPr>
          <a:lstStyle/>
          <a:p>
            <a:pPr algn="l"/>
            <a:r>
              <a:rPr sz="1200" b="1">
                <a:solidFill>
                  <a:srgbClr val="00E596"/>
                </a:solidFill>
              </a:rPr>
              <a:t>Discovery → Analysis handoff</a:t>
            </a:r>
          </a:p>
        </p:txBody>
      </p:sp>
      <p:sp>
        <p:nvSpPr>
          <p:cNvPr id="24" name="TextBox 23"/>
          <p:cNvSpPr txBox="1"/>
          <p:nvPr/>
        </p:nvSpPr>
        <p:spPr>
          <a:xfrm>
            <a:off x="8595360" y="4992624"/>
            <a:ext cx="3154680" cy="658368"/>
          </a:xfrm>
          <a:prstGeom prst="rect">
            <a:avLst/>
          </a:prstGeom>
          <a:noFill/>
        </p:spPr>
        <p:txBody>
          <a:bodyPr wrap="square">
            <a:spAutoFit/>
          </a:bodyPr>
          <a:lstStyle/>
          <a:p>
            <a:pPr algn="l"/>
            <a:r>
              <a:rPr sz="1100" b="0">
                <a:solidFill>
                  <a:srgbClr val="B0C4D8"/>
                </a:solidFill>
              </a:rPr>
              <a:t>$TICKER pills route the user
into the full 5-agent pipeline.</a:t>
            </a:r>
          </a:p>
        </p:txBody>
      </p:sp>
      <p:sp>
        <p:nvSpPr>
          <p:cNvPr id="25" name="Rectangle 24"/>
          <p:cNvSpPr/>
          <p:nvPr/>
        </p:nvSpPr>
        <p:spPr>
          <a:xfrm>
            <a:off x="6035040" y="5797296"/>
            <a:ext cx="5897880" cy="749808"/>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5861304"/>
            <a:ext cx="2286000" cy="292608"/>
          </a:xfrm>
          <a:prstGeom prst="rect">
            <a:avLst/>
          </a:prstGeom>
          <a:noFill/>
        </p:spPr>
        <p:txBody>
          <a:bodyPr wrap="square">
            <a:spAutoFit/>
          </a:bodyPr>
          <a:lstStyle/>
          <a:p>
            <a:pPr algn="l"/>
            <a:r>
              <a:rPr sz="1200" b="1">
                <a:solidFill>
                  <a:srgbClr val="00C2FF"/>
                </a:solidFill>
              </a:rPr>
              <a:t>Personalized system prompt</a:t>
            </a:r>
          </a:p>
        </p:txBody>
      </p:sp>
      <p:sp>
        <p:nvSpPr>
          <p:cNvPr id="27" name="TextBox 26"/>
          <p:cNvSpPr txBox="1"/>
          <p:nvPr/>
        </p:nvSpPr>
        <p:spPr>
          <a:xfrm>
            <a:off x="8595360" y="5833872"/>
            <a:ext cx="3154680" cy="658368"/>
          </a:xfrm>
          <a:prstGeom prst="rect">
            <a:avLst/>
          </a:prstGeom>
          <a:noFill/>
        </p:spPr>
        <p:txBody>
          <a:bodyPr wrap="square">
            <a:spAutoFit/>
          </a:bodyPr>
          <a:lstStyle/>
          <a:p>
            <a:pPr algn="l"/>
            <a:r>
              <a:rPr sz="1100" b="0">
                <a:solidFill>
                  <a:srgbClr val="B0C4D8"/>
                </a:solidFill>
              </a:rPr>
              <a:t>Risk tolerance + sectors + horizon
shape every single response.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Trading Pipeline — How Trade Decisions Are Made</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Completely separate from the analysis pipeline  ·  Runs every 30 minutes</a:t>
            </a:r>
          </a:p>
        </p:txBody>
      </p:sp>
      <p:sp>
        <p:nvSpPr>
          <p:cNvPr id="6" name="Rectangle 5"/>
          <p:cNvSpPr/>
          <p:nvPr/>
        </p:nvSpPr>
        <p:spPr>
          <a:xfrm>
            <a:off x="274320" y="1143000"/>
            <a:ext cx="11612880" cy="105156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216152"/>
            <a:ext cx="3657600" cy="384048"/>
          </a:xfrm>
          <a:prstGeom prst="rect">
            <a:avLst/>
          </a:prstGeom>
          <a:noFill/>
        </p:spPr>
        <p:txBody>
          <a:bodyPr wrap="square">
            <a:spAutoFit/>
          </a:bodyPr>
          <a:lstStyle/>
          <a:p>
            <a:pPr algn="l"/>
            <a:r>
              <a:rPr sz="1400" b="1">
                <a:solidFill>
                  <a:srgbClr val="00E596"/>
                </a:solidFill>
              </a:rPr>
              <a:t>1  Market Observer</a:t>
            </a:r>
          </a:p>
        </p:txBody>
      </p:sp>
      <p:sp>
        <p:nvSpPr>
          <p:cNvPr id="8" name="TextBox 7"/>
          <p:cNvSpPr txBox="1"/>
          <p:nvPr/>
        </p:nvSpPr>
        <p:spPr>
          <a:xfrm>
            <a:off x="4206240" y="1216152"/>
            <a:ext cx="7498079" cy="914400"/>
          </a:xfrm>
          <a:prstGeom prst="rect">
            <a:avLst/>
          </a:prstGeom>
          <a:noFill/>
        </p:spPr>
        <p:txBody>
          <a:bodyPr wrap="square">
            <a:spAutoFit/>
          </a:bodyPr>
          <a:lstStyle/>
          <a:p>
            <a:pPr algn="l"/>
            <a:r>
              <a:rPr sz="1200" b="0">
                <a:solidFill>
                  <a:srgbClr val="B0C4D8"/>
                </a:solidFill>
              </a:rPr>
              <a:t>Collects the live market snapshot for a symbol: current price, technical indicators,
news sentiment score, volatility, and market regime (trending bull/bear, ranging, etc.)</a:t>
            </a:r>
          </a:p>
        </p:txBody>
      </p:sp>
      <p:sp>
        <p:nvSpPr>
          <p:cNvPr id="9" name="TextBox 8"/>
          <p:cNvSpPr txBox="1"/>
          <p:nvPr/>
        </p:nvSpPr>
        <p:spPr>
          <a:xfrm>
            <a:off x="5760720" y="2212848"/>
            <a:ext cx="731520" cy="164592"/>
          </a:xfrm>
          <a:prstGeom prst="rect">
            <a:avLst/>
          </a:prstGeom>
          <a:noFill/>
        </p:spPr>
        <p:txBody>
          <a:bodyPr wrap="square">
            <a:spAutoFit/>
          </a:bodyPr>
          <a:lstStyle/>
          <a:p>
            <a:pPr algn="ctr"/>
            <a:r>
              <a:rPr sz="1300" b="0">
                <a:solidFill>
                  <a:srgbClr val="B0C4D8"/>
                </a:solidFill>
              </a:rPr>
              <a:t>↓</a:t>
            </a:r>
          </a:p>
        </p:txBody>
      </p:sp>
      <p:sp>
        <p:nvSpPr>
          <p:cNvPr id="10" name="Rectangle 9"/>
          <p:cNvSpPr/>
          <p:nvPr/>
        </p:nvSpPr>
        <p:spPr>
          <a:xfrm>
            <a:off x="274320" y="2331720"/>
            <a:ext cx="11612880" cy="105156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2404872"/>
            <a:ext cx="3657600" cy="384048"/>
          </a:xfrm>
          <a:prstGeom prst="rect">
            <a:avLst/>
          </a:prstGeom>
          <a:noFill/>
        </p:spPr>
        <p:txBody>
          <a:bodyPr wrap="square">
            <a:spAutoFit/>
          </a:bodyPr>
          <a:lstStyle/>
          <a:p>
            <a:pPr algn="l"/>
            <a:r>
              <a:rPr sz="1400" b="1">
                <a:solidFill>
                  <a:srgbClr val="00C2FF"/>
                </a:solidFill>
              </a:rPr>
              <a:t>2  Analysis Fetcher</a:t>
            </a:r>
          </a:p>
        </p:txBody>
      </p:sp>
      <p:sp>
        <p:nvSpPr>
          <p:cNvPr id="12" name="TextBox 11"/>
          <p:cNvSpPr txBox="1"/>
          <p:nvPr/>
        </p:nvSpPr>
        <p:spPr>
          <a:xfrm>
            <a:off x="4206240" y="2404872"/>
            <a:ext cx="7498079" cy="914400"/>
          </a:xfrm>
          <a:prstGeom prst="rect">
            <a:avLst/>
          </a:prstGeom>
          <a:noFill/>
        </p:spPr>
        <p:txBody>
          <a:bodyPr wrap="square">
            <a:spAutoFit/>
          </a:bodyPr>
          <a:lstStyle/>
          <a:p>
            <a:pPr algn="l"/>
            <a:r>
              <a:rPr sz="1200" b="0">
                <a:solidFill>
                  <a:srgbClr val="B0C4D8"/>
                </a:solidFill>
              </a:rPr>
              <a:t>Checks the Redis cache for a completed Supervisor report on this symbol.
If a recent analysis exists, it is passed as extra context to the decision agent.
If not, the trading agent operates on market data alone.</a:t>
            </a:r>
          </a:p>
        </p:txBody>
      </p:sp>
      <p:sp>
        <p:nvSpPr>
          <p:cNvPr id="13" name="TextBox 12"/>
          <p:cNvSpPr txBox="1"/>
          <p:nvPr/>
        </p:nvSpPr>
        <p:spPr>
          <a:xfrm>
            <a:off x="5760720" y="3401568"/>
            <a:ext cx="731520" cy="164592"/>
          </a:xfrm>
          <a:prstGeom prst="rect">
            <a:avLst/>
          </a:prstGeom>
          <a:noFill/>
        </p:spPr>
        <p:txBody>
          <a:bodyPr wrap="square">
            <a:spAutoFit/>
          </a:bodyPr>
          <a:lstStyle/>
          <a:p>
            <a:pPr algn="ctr"/>
            <a:r>
              <a:rPr sz="1300" b="0">
                <a:solidFill>
                  <a:srgbClr val="B0C4D8"/>
                </a:solidFill>
              </a:rPr>
              <a:t>↓</a:t>
            </a:r>
          </a:p>
        </p:txBody>
      </p:sp>
      <p:sp>
        <p:nvSpPr>
          <p:cNvPr id="14" name="Rectangle 13"/>
          <p:cNvSpPr/>
          <p:nvPr/>
        </p:nvSpPr>
        <p:spPr>
          <a:xfrm>
            <a:off x="274320" y="3520440"/>
            <a:ext cx="11612880" cy="105156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3593592"/>
            <a:ext cx="3657600" cy="384048"/>
          </a:xfrm>
          <a:prstGeom prst="rect">
            <a:avLst/>
          </a:prstGeom>
          <a:noFill/>
        </p:spPr>
        <p:txBody>
          <a:bodyPr wrap="square">
            <a:spAutoFit/>
          </a:bodyPr>
          <a:lstStyle/>
          <a:p>
            <a:pPr algn="l"/>
            <a:r>
              <a:rPr sz="1400" b="1">
                <a:solidFill>
                  <a:srgbClr val="FFB800"/>
                </a:solidFill>
              </a:rPr>
              <a:t>3  Memory Retrieval</a:t>
            </a:r>
          </a:p>
        </p:txBody>
      </p:sp>
      <p:sp>
        <p:nvSpPr>
          <p:cNvPr id="16" name="TextBox 15"/>
          <p:cNvSpPr txBox="1"/>
          <p:nvPr/>
        </p:nvSpPr>
        <p:spPr>
          <a:xfrm>
            <a:off x="4206240" y="3593592"/>
            <a:ext cx="7498079" cy="914400"/>
          </a:xfrm>
          <a:prstGeom prst="rect">
            <a:avLst/>
          </a:prstGeom>
          <a:noFill/>
        </p:spPr>
        <p:txBody>
          <a:bodyPr wrap="square">
            <a:spAutoFit/>
          </a:bodyPr>
          <a:lstStyle/>
          <a:p>
            <a:pPr algn="l"/>
            <a:r>
              <a:rPr sz="1200" b="0">
                <a:solidFill>
                  <a:srgbClr val="B0C4D8"/>
                </a:solidFill>
              </a:rPr>
              <a:t>Searches a vector database for past market situations that are similar to right now.
Returns past trade outcomes with their lessons: what worked, what failed, and why.</a:t>
            </a:r>
          </a:p>
        </p:txBody>
      </p:sp>
      <p:sp>
        <p:nvSpPr>
          <p:cNvPr id="17" name="TextBox 16"/>
          <p:cNvSpPr txBox="1"/>
          <p:nvPr/>
        </p:nvSpPr>
        <p:spPr>
          <a:xfrm>
            <a:off x="5760720" y="4590288"/>
            <a:ext cx="731520" cy="164592"/>
          </a:xfrm>
          <a:prstGeom prst="rect">
            <a:avLst/>
          </a:prstGeom>
          <a:noFill/>
        </p:spPr>
        <p:txBody>
          <a:bodyPr wrap="square">
            <a:spAutoFit/>
          </a:bodyPr>
          <a:lstStyle/>
          <a:p>
            <a:pPr algn="ctr"/>
            <a:r>
              <a:rPr sz="1300" b="0">
                <a:solidFill>
                  <a:srgbClr val="B0C4D8"/>
                </a:solidFill>
              </a:rPr>
              <a:t>↓</a:t>
            </a:r>
          </a:p>
        </p:txBody>
      </p:sp>
      <p:sp>
        <p:nvSpPr>
          <p:cNvPr id="18" name="Rectangle 17"/>
          <p:cNvSpPr/>
          <p:nvPr/>
        </p:nvSpPr>
        <p:spPr>
          <a:xfrm>
            <a:off x="274320" y="4709160"/>
            <a:ext cx="11612880" cy="105156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4782312"/>
            <a:ext cx="3657600" cy="384048"/>
          </a:xfrm>
          <a:prstGeom prst="rect">
            <a:avLst/>
          </a:prstGeom>
          <a:noFill/>
        </p:spPr>
        <p:txBody>
          <a:bodyPr wrap="square">
            <a:spAutoFit/>
          </a:bodyPr>
          <a:lstStyle/>
          <a:p>
            <a:pPr algn="l"/>
            <a:r>
              <a:rPr sz="1400" b="1">
                <a:solidFill>
                  <a:srgbClr val="00E596"/>
                </a:solidFill>
              </a:rPr>
              <a:t>4  Trade Decision Agent</a:t>
            </a:r>
          </a:p>
        </p:txBody>
      </p:sp>
      <p:sp>
        <p:nvSpPr>
          <p:cNvPr id="20" name="TextBox 19"/>
          <p:cNvSpPr txBox="1"/>
          <p:nvPr/>
        </p:nvSpPr>
        <p:spPr>
          <a:xfrm>
            <a:off x="4206240" y="4782312"/>
            <a:ext cx="7498079" cy="914400"/>
          </a:xfrm>
          <a:prstGeom prst="rect">
            <a:avLst/>
          </a:prstGeom>
          <a:noFill/>
        </p:spPr>
        <p:txBody>
          <a:bodyPr wrap="square">
            <a:spAutoFit/>
          </a:bodyPr>
          <a:lstStyle/>
          <a:p>
            <a:pPr algn="l"/>
            <a:r>
              <a:rPr sz="1200" b="0">
                <a:solidFill>
                  <a:srgbClr val="B0C4D8"/>
                </a:solidFill>
              </a:rPr>
              <a:t>The LLM receives: current observation + cached analysis + similar memories + portfolio state.
It decides BUY, SELL, or HOLD and sets confidence, stop-loss, and position size.</a:t>
            </a:r>
          </a:p>
        </p:txBody>
      </p:sp>
      <p:sp>
        <p:nvSpPr>
          <p:cNvPr id="21" name="Rectangle 20"/>
          <p:cNvSpPr/>
          <p:nvPr/>
        </p:nvSpPr>
        <p:spPr>
          <a:xfrm>
            <a:off x="274320" y="6035040"/>
            <a:ext cx="11612880" cy="658368"/>
          </a:xfrm>
          <a:prstGeom prst="rect">
            <a:avLst/>
          </a:prstGeom>
          <a:solidFill>
            <a:srgbClr val="0A1A10"/>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089904"/>
            <a:ext cx="3200400" cy="320040"/>
          </a:xfrm>
          <a:prstGeom prst="rect">
            <a:avLst/>
          </a:prstGeom>
          <a:noFill/>
        </p:spPr>
        <p:txBody>
          <a:bodyPr wrap="square">
            <a:spAutoFit/>
          </a:bodyPr>
          <a:lstStyle/>
          <a:p>
            <a:pPr algn="l"/>
            <a:r>
              <a:rPr sz="1200" b="1">
                <a:solidFill>
                  <a:srgbClr val="00E596"/>
                </a:solidFill>
              </a:rPr>
              <a:t>Execution routes after the decision:</a:t>
            </a:r>
          </a:p>
        </p:txBody>
      </p:sp>
      <p:sp>
        <p:nvSpPr>
          <p:cNvPr id="23" name="TextBox 22"/>
          <p:cNvSpPr txBox="1"/>
          <p:nvPr/>
        </p:nvSpPr>
        <p:spPr>
          <a:xfrm>
            <a:off x="3840480" y="6089904"/>
            <a:ext cx="7863840" cy="320040"/>
          </a:xfrm>
          <a:prstGeom prst="rect">
            <a:avLst/>
          </a:prstGeom>
          <a:noFill/>
        </p:spPr>
        <p:txBody>
          <a:bodyPr wrap="square">
            <a:spAutoFit/>
          </a:bodyPr>
          <a:lstStyle/>
          <a:p>
            <a:pPr algn="l"/>
            <a:r>
              <a:rPr sz="1200" b="0">
                <a:solidFill>
                  <a:srgbClr val="B0C4D8"/>
                </a:solidFill>
              </a:rPr>
              <a:t>execute  →  real Alpaca paper order     |     virtual_execute  →  simulated position in DB     |     skip  →  HOLD or circuit breaker active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Trade Decision Agent vs Supervisor Agent</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They are NOT the same — two different agents, two different jobs</a:t>
            </a:r>
          </a:p>
        </p:txBody>
      </p:sp>
      <p:sp>
        <p:nvSpPr>
          <p:cNvPr id="6" name="Rectangle 5"/>
          <p:cNvSpPr/>
          <p:nvPr/>
        </p:nvSpPr>
        <p:spPr>
          <a:xfrm>
            <a:off x="4206240" y="1097280"/>
            <a:ext cx="3931920" cy="54864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0" y="1161288"/>
            <a:ext cx="3931920" cy="438912"/>
          </a:xfrm>
          <a:prstGeom prst="rect">
            <a:avLst/>
          </a:prstGeom>
          <a:noFill/>
        </p:spPr>
        <p:txBody>
          <a:bodyPr wrap="square">
            <a:spAutoFit/>
          </a:bodyPr>
          <a:lstStyle/>
          <a:p>
            <a:pPr algn="ctr"/>
            <a:r>
              <a:rPr sz="1400" b="1">
                <a:solidFill>
                  <a:srgbClr val="00C2FF"/>
                </a:solidFill>
              </a:rPr>
              <a:t>Supervisor Agent</a:t>
            </a:r>
          </a:p>
        </p:txBody>
      </p:sp>
      <p:sp>
        <p:nvSpPr>
          <p:cNvPr id="8" name="Rectangle 7"/>
          <p:cNvSpPr/>
          <p:nvPr/>
        </p:nvSpPr>
        <p:spPr>
          <a:xfrm>
            <a:off x="8321040" y="1097280"/>
            <a:ext cx="3657600" cy="54864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161288"/>
            <a:ext cx="3657600" cy="438912"/>
          </a:xfrm>
          <a:prstGeom prst="rect">
            <a:avLst/>
          </a:prstGeom>
          <a:noFill/>
        </p:spPr>
        <p:txBody>
          <a:bodyPr wrap="square">
            <a:spAutoFit/>
          </a:bodyPr>
          <a:lstStyle/>
          <a:p>
            <a:pPr algn="ctr"/>
            <a:r>
              <a:rPr sz="1400" b="1">
                <a:solidFill>
                  <a:srgbClr val="00E596"/>
                </a:solidFill>
              </a:rPr>
              <a:t>Trade Decision Agent</a:t>
            </a:r>
          </a:p>
        </p:txBody>
      </p:sp>
      <p:sp>
        <p:nvSpPr>
          <p:cNvPr id="10" name="Rectangle 9"/>
          <p:cNvSpPr/>
          <p:nvPr/>
        </p:nvSpPr>
        <p:spPr>
          <a:xfrm>
            <a:off x="274320" y="1737360"/>
            <a:ext cx="11612880" cy="713232"/>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828800"/>
            <a:ext cx="3657600" cy="621792"/>
          </a:xfrm>
          <a:prstGeom prst="rect">
            <a:avLst/>
          </a:prstGeom>
          <a:noFill/>
        </p:spPr>
        <p:txBody>
          <a:bodyPr wrap="square">
            <a:spAutoFit/>
          </a:bodyPr>
          <a:lstStyle/>
          <a:p>
            <a:pPr algn="l"/>
            <a:r>
              <a:rPr sz="1200" b="1">
                <a:solidFill>
                  <a:srgbClr val="B0C4D8"/>
                </a:solidFill>
              </a:rPr>
              <a:t>Purpose</a:t>
            </a:r>
          </a:p>
        </p:txBody>
      </p:sp>
      <p:sp>
        <p:nvSpPr>
          <p:cNvPr id="12" name="TextBox 11"/>
          <p:cNvSpPr txBox="1"/>
          <p:nvPr/>
        </p:nvSpPr>
        <p:spPr>
          <a:xfrm>
            <a:off x="4251960" y="1792224"/>
            <a:ext cx="3840480" cy="640080"/>
          </a:xfrm>
          <a:prstGeom prst="rect">
            <a:avLst/>
          </a:prstGeom>
          <a:noFill/>
        </p:spPr>
        <p:txBody>
          <a:bodyPr wrap="square">
            <a:spAutoFit/>
          </a:bodyPr>
          <a:lstStyle/>
          <a:p>
            <a:pPr algn="l"/>
            <a:r>
              <a:rPr sz="1200" b="0">
                <a:solidFill>
                  <a:srgbClr val="FFFFFF"/>
                </a:solidFill>
              </a:rPr>
              <a:t>Synthesize analysis
into an investment view</a:t>
            </a:r>
          </a:p>
        </p:txBody>
      </p:sp>
      <p:sp>
        <p:nvSpPr>
          <p:cNvPr id="13" name="TextBox 12"/>
          <p:cNvSpPr txBox="1"/>
          <p:nvPr/>
        </p:nvSpPr>
        <p:spPr>
          <a:xfrm>
            <a:off x="8366760" y="1792224"/>
            <a:ext cx="3474720" cy="640080"/>
          </a:xfrm>
          <a:prstGeom prst="rect">
            <a:avLst/>
          </a:prstGeom>
          <a:noFill/>
        </p:spPr>
        <p:txBody>
          <a:bodyPr wrap="square">
            <a:spAutoFit/>
          </a:bodyPr>
          <a:lstStyle/>
          <a:p>
            <a:pPr algn="l"/>
            <a:r>
              <a:rPr sz="1200" b="0">
                <a:solidFill>
                  <a:srgbClr val="FFFFFF"/>
                </a:solidFill>
              </a:rPr>
              <a:t>Make the actual
trade action decision</a:t>
            </a:r>
          </a:p>
        </p:txBody>
      </p:sp>
      <p:sp>
        <p:nvSpPr>
          <p:cNvPr id="14" name="Rectangle 13"/>
          <p:cNvSpPr/>
          <p:nvPr/>
        </p:nvSpPr>
        <p:spPr>
          <a:xfrm>
            <a:off x="274320" y="2487168"/>
            <a:ext cx="11612880" cy="713232"/>
          </a:xfrm>
          <a:prstGeom prst="rect">
            <a:avLst/>
          </a:prstGeom>
          <a:solidFill>
            <a:srgbClr val="122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578608"/>
            <a:ext cx="3657600" cy="621792"/>
          </a:xfrm>
          <a:prstGeom prst="rect">
            <a:avLst/>
          </a:prstGeom>
          <a:noFill/>
        </p:spPr>
        <p:txBody>
          <a:bodyPr wrap="square">
            <a:spAutoFit/>
          </a:bodyPr>
          <a:lstStyle/>
          <a:p>
            <a:pPr algn="l"/>
            <a:r>
              <a:rPr sz="1200" b="1">
                <a:solidFill>
                  <a:srgbClr val="B0C4D8"/>
                </a:solidFill>
              </a:rPr>
              <a:t>Inputs</a:t>
            </a:r>
          </a:p>
        </p:txBody>
      </p:sp>
      <p:sp>
        <p:nvSpPr>
          <p:cNvPr id="16" name="TextBox 15"/>
          <p:cNvSpPr txBox="1"/>
          <p:nvPr/>
        </p:nvSpPr>
        <p:spPr>
          <a:xfrm>
            <a:off x="4251960" y="2542032"/>
            <a:ext cx="3840480" cy="640080"/>
          </a:xfrm>
          <a:prstGeom prst="rect">
            <a:avLst/>
          </a:prstGeom>
          <a:noFill/>
        </p:spPr>
        <p:txBody>
          <a:bodyPr wrap="square">
            <a:spAutoFit/>
          </a:bodyPr>
          <a:lstStyle/>
          <a:p>
            <a:pPr algn="l"/>
            <a:r>
              <a:rPr sz="1200" b="0">
                <a:solidFill>
                  <a:srgbClr val="FFFFFF"/>
                </a:solidFill>
              </a:rPr>
              <a:t>4 specialist agent outputs
(technical, news, risk, fundamentals)</a:t>
            </a:r>
          </a:p>
        </p:txBody>
      </p:sp>
      <p:sp>
        <p:nvSpPr>
          <p:cNvPr id="17" name="TextBox 16"/>
          <p:cNvSpPr txBox="1"/>
          <p:nvPr/>
        </p:nvSpPr>
        <p:spPr>
          <a:xfrm>
            <a:off x="8366760" y="2542032"/>
            <a:ext cx="3474720" cy="640080"/>
          </a:xfrm>
          <a:prstGeom prst="rect">
            <a:avLst/>
          </a:prstGeom>
          <a:noFill/>
        </p:spPr>
        <p:txBody>
          <a:bodyPr wrap="square">
            <a:spAutoFit/>
          </a:bodyPr>
          <a:lstStyle/>
          <a:p>
            <a:pPr algn="l"/>
            <a:r>
              <a:rPr sz="1200" b="0">
                <a:solidFill>
                  <a:srgbClr val="FFFFFF"/>
                </a:solidFill>
              </a:rPr>
              <a:t>Market observation, portfolio state,
cached supervisor report, memory</a:t>
            </a:r>
          </a:p>
        </p:txBody>
      </p:sp>
      <p:sp>
        <p:nvSpPr>
          <p:cNvPr id="18" name="Rectangle 17"/>
          <p:cNvSpPr/>
          <p:nvPr/>
        </p:nvSpPr>
        <p:spPr>
          <a:xfrm>
            <a:off x="274320" y="3236976"/>
            <a:ext cx="11612880" cy="713232"/>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3328416"/>
            <a:ext cx="3657600" cy="621792"/>
          </a:xfrm>
          <a:prstGeom prst="rect">
            <a:avLst/>
          </a:prstGeom>
          <a:noFill/>
        </p:spPr>
        <p:txBody>
          <a:bodyPr wrap="square">
            <a:spAutoFit/>
          </a:bodyPr>
          <a:lstStyle/>
          <a:p>
            <a:pPr algn="l"/>
            <a:r>
              <a:rPr sz="1200" b="1">
                <a:solidFill>
                  <a:srgbClr val="B0C4D8"/>
                </a:solidFill>
              </a:rPr>
              <a:t>Output</a:t>
            </a:r>
          </a:p>
        </p:txBody>
      </p:sp>
      <p:sp>
        <p:nvSpPr>
          <p:cNvPr id="20" name="TextBox 19"/>
          <p:cNvSpPr txBox="1"/>
          <p:nvPr/>
        </p:nvSpPr>
        <p:spPr>
          <a:xfrm>
            <a:off x="4251960" y="3291840"/>
            <a:ext cx="3840480" cy="640080"/>
          </a:xfrm>
          <a:prstGeom prst="rect">
            <a:avLst/>
          </a:prstGeom>
          <a:noFill/>
        </p:spPr>
        <p:txBody>
          <a:bodyPr wrap="square">
            <a:spAutoFit/>
          </a:bodyPr>
          <a:lstStyle/>
          <a:p>
            <a:pPr algn="l"/>
            <a:r>
              <a:rPr sz="1200" b="0">
                <a:solidFill>
                  <a:srgbClr val="FFFFFF"/>
                </a:solidFill>
              </a:rPr>
              <a:t>FinalRecommendation
BUY / HOLD / SELL + reasoning</a:t>
            </a:r>
          </a:p>
        </p:txBody>
      </p:sp>
      <p:sp>
        <p:nvSpPr>
          <p:cNvPr id="21" name="TextBox 20"/>
          <p:cNvSpPr txBox="1"/>
          <p:nvPr/>
        </p:nvSpPr>
        <p:spPr>
          <a:xfrm>
            <a:off x="8366760" y="3291840"/>
            <a:ext cx="3474720" cy="640080"/>
          </a:xfrm>
          <a:prstGeom prst="rect">
            <a:avLst/>
          </a:prstGeom>
          <a:noFill/>
        </p:spPr>
        <p:txBody>
          <a:bodyPr wrap="square">
            <a:spAutoFit/>
          </a:bodyPr>
          <a:lstStyle/>
          <a:p>
            <a:pPr algn="l"/>
            <a:r>
              <a:rPr sz="1200" b="0">
                <a:solidFill>
                  <a:srgbClr val="FFFFFF"/>
                </a:solidFill>
              </a:rPr>
              <a:t>TradeDecisionOutput
BUY / SELL / HOLD + stop-loss + size</a:t>
            </a:r>
          </a:p>
        </p:txBody>
      </p:sp>
      <p:sp>
        <p:nvSpPr>
          <p:cNvPr id="22" name="Rectangle 21"/>
          <p:cNvSpPr/>
          <p:nvPr/>
        </p:nvSpPr>
        <p:spPr>
          <a:xfrm>
            <a:off x="274320" y="3986783"/>
            <a:ext cx="11612880" cy="713232"/>
          </a:xfrm>
          <a:prstGeom prst="rect">
            <a:avLst/>
          </a:prstGeom>
          <a:solidFill>
            <a:srgbClr val="122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4078223"/>
            <a:ext cx="3657600" cy="621792"/>
          </a:xfrm>
          <a:prstGeom prst="rect">
            <a:avLst/>
          </a:prstGeom>
          <a:noFill/>
        </p:spPr>
        <p:txBody>
          <a:bodyPr wrap="square">
            <a:spAutoFit/>
          </a:bodyPr>
          <a:lstStyle/>
          <a:p>
            <a:pPr algn="l"/>
            <a:r>
              <a:rPr sz="1200" b="1">
                <a:solidFill>
                  <a:srgbClr val="B0C4D8"/>
                </a:solidFill>
              </a:rPr>
              <a:t>Uses LLM?</a:t>
            </a:r>
          </a:p>
        </p:txBody>
      </p:sp>
      <p:sp>
        <p:nvSpPr>
          <p:cNvPr id="24" name="TextBox 23"/>
          <p:cNvSpPr txBox="1"/>
          <p:nvPr/>
        </p:nvSpPr>
        <p:spPr>
          <a:xfrm>
            <a:off x="4251960" y="4041647"/>
            <a:ext cx="3840480" cy="640080"/>
          </a:xfrm>
          <a:prstGeom prst="rect">
            <a:avLst/>
          </a:prstGeom>
          <a:noFill/>
        </p:spPr>
        <p:txBody>
          <a:bodyPr wrap="square">
            <a:spAutoFit/>
          </a:bodyPr>
          <a:lstStyle/>
          <a:p>
            <a:pPr algn="l"/>
            <a:r>
              <a:rPr sz="1200" b="0">
                <a:solidFill>
                  <a:srgbClr val="FFFFFF"/>
                </a:solidFill>
              </a:rPr>
              <a:t>Yes — synthesis &amp; reasoning</a:t>
            </a:r>
          </a:p>
        </p:txBody>
      </p:sp>
      <p:sp>
        <p:nvSpPr>
          <p:cNvPr id="25" name="TextBox 24"/>
          <p:cNvSpPr txBox="1"/>
          <p:nvPr/>
        </p:nvSpPr>
        <p:spPr>
          <a:xfrm>
            <a:off x="8366760" y="4041647"/>
            <a:ext cx="3474720" cy="640080"/>
          </a:xfrm>
          <a:prstGeom prst="rect">
            <a:avLst/>
          </a:prstGeom>
          <a:noFill/>
        </p:spPr>
        <p:txBody>
          <a:bodyPr wrap="square">
            <a:spAutoFit/>
          </a:bodyPr>
          <a:lstStyle/>
          <a:p>
            <a:pPr algn="l"/>
            <a:r>
              <a:rPr sz="1200" b="0">
                <a:solidFill>
                  <a:srgbClr val="FFFFFF"/>
                </a:solidFill>
              </a:rPr>
              <a:t>Yes — judgment &amp; reasoning</a:t>
            </a:r>
          </a:p>
        </p:txBody>
      </p:sp>
      <p:sp>
        <p:nvSpPr>
          <p:cNvPr id="26" name="Rectangle 25"/>
          <p:cNvSpPr/>
          <p:nvPr/>
        </p:nvSpPr>
        <p:spPr>
          <a:xfrm>
            <a:off x="274320" y="4736592"/>
            <a:ext cx="11612880" cy="713232"/>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828032"/>
            <a:ext cx="3657600" cy="621792"/>
          </a:xfrm>
          <a:prstGeom prst="rect">
            <a:avLst/>
          </a:prstGeom>
          <a:noFill/>
        </p:spPr>
        <p:txBody>
          <a:bodyPr wrap="square">
            <a:spAutoFit/>
          </a:bodyPr>
          <a:lstStyle/>
          <a:p>
            <a:pPr algn="l"/>
            <a:r>
              <a:rPr sz="1200" b="1">
                <a:solidFill>
                  <a:srgbClr val="B0C4D8"/>
                </a:solidFill>
              </a:rPr>
              <a:t>Sends an order?</a:t>
            </a:r>
          </a:p>
        </p:txBody>
      </p:sp>
      <p:sp>
        <p:nvSpPr>
          <p:cNvPr id="28" name="TextBox 27"/>
          <p:cNvSpPr txBox="1"/>
          <p:nvPr/>
        </p:nvSpPr>
        <p:spPr>
          <a:xfrm>
            <a:off x="4251960" y="4791456"/>
            <a:ext cx="3840480" cy="640080"/>
          </a:xfrm>
          <a:prstGeom prst="rect">
            <a:avLst/>
          </a:prstGeom>
          <a:noFill/>
        </p:spPr>
        <p:txBody>
          <a:bodyPr wrap="square">
            <a:spAutoFit/>
          </a:bodyPr>
          <a:lstStyle/>
          <a:p>
            <a:pPr algn="l"/>
            <a:r>
              <a:rPr sz="1200" b="0">
                <a:solidFill>
                  <a:srgbClr val="FFFFFF"/>
                </a:solidFill>
              </a:rPr>
              <a:t>NO — analysis only</a:t>
            </a:r>
          </a:p>
        </p:txBody>
      </p:sp>
      <p:sp>
        <p:nvSpPr>
          <p:cNvPr id="29" name="TextBox 28"/>
          <p:cNvSpPr txBox="1"/>
          <p:nvPr/>
        </p:nvSpPr>
        <p:spPr>
          <a:xfrm>
            <a:off x="8366760" y="4791456"/>
            <a:ext cx="3474720" cy="640080"/>
          </a:xfrm>
          <a:prstGeom prst="rect">
            <a:avLst/>
          </a:prstGeom>
          <a:noFill/>
        </p:spPr>
        <p:txBody>
          <a:bodyPr wrap="square">
            <a:spAutoFit/>
          </a:bodyPr>
          <a:lstStyle/>
          <a:p>
            <a:pPr algn="l"/>
            <a:r>
              <a:rPr sz="1200" b="0">
                <a:solidFill>
                  <a:srgbClr val="FFFFFF"/>
                </a:solidFill>
              </a:rPr>
              <a:t>Indirectly — feeds execution agent</a:t>
            </a:r>
          </a:p>
        </p:txBody>
      </p:sp>
      <p:sp>
        <p:nvSpPr>
          <p:cNvPr id="30" name="Rectangle 29"/>
          <p:cNvSpPr/>
          <p:nvPr/>
        </p:nvSpPr>
        <p:spPr>
          <a:xfrm>
            <a:off x="274320" y="5486400"/>
            <a:ext cx="11612880" cy="713232"/>
          </a:xfrm>
          <a:prstGeom prst="rect">
            <a:avLst/>
          </a:prstGeom>
          <a:solidFill>
            <a:srgbClr val="122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5577840"/>
            <a:ext cx="3657600" cy="621792"/>
          </a:xfrm>
          <a:prstGeom prst="rect">
            <a:avLst/>
          </a:prstGeom>
          <a:noFill/>
        </p:spPr>
        <p:txBody>
          <a:bodyPr wrap="square">
            <a:spAutoFit/>
          </a:bodyPr>
          <a:lstStyle/>
          <a:p>
            <a:pPr algn="l"/>
            <a:r>
              <a:rPr sz="1200" b="1">
                <a:solidFill>
                  <a:srgbClr val="B0C4D8"/>
                </a:solidFill>
              </a:rPr>
              <a:t>Can they disagree?</a:t>
            </a:r>
          </a:p>
        </p:txBody>
      </p:sp>
      <p:sp>
        <p:nvSpPr>
          <p:cNvPr id="32" name="TextBox 31"/>
          <p:cNvSpPr txBox="1"/>
          <p:nvPr/>
        </p:nvSpPr>
        <p:spPr>
          <a:xfrm>
            <a:off x="4251960" y="5541264"/>
            <a:ext cx="3840480" cy="640080"/>
          </a:xfrm>
          <a:prstGeom prst="rect">
            <a:avLst/>
          </a:prstGeom>
          <a:noFill/>
        </p:spPr>
        <p:txBody>
          <a:bodyPr wrap="square">
            <a:spAutoFit/>
          </a:bodyPr>
          <a:lstStyle/>
          <a:p>
            <a:pPr algn="l"/>
            <a:r>
              <a:rPr sz="1200" b="0">
                <a:solidFill>
                  <a:srgbClr val="FFFFFF"/>
                </a:solidFill>
              </a:rPr>
              <a:t>—</a:t>
            </a:r>
          </a:p>
        </p:txBody>
      </p:sp>
      <p:sp>
        <p:nvSpPr>
          <p:cNvPr id="33" name="TextBox 32"/>
          <p:cNvSpPr txBox="1"/>
          <p:nvPr/>
        </p:nvSpPr>
        <p:spPr>
          <a:xfrm>
            <a:off x="8366760" y="5541264"/>
            <a:ext cx="3474720" cy="640080"/>
          </a:xfrm>
          <a:prstGeom prst="rect">
            <a:avLst/>
          </a:prstGeom>
          <a:noFill/>
        </p:spPr>
        <p:txBody>
          <a:bodyPr wrap="square">
            <a:spAutoFit/>
          </a:bodyPr>
          <a:lstStyle/>
          <a:p>
            <a:pPr algn="l"/>
            <a:r>
              <a:rPr sz="1200" b="0">
                <a:solidFill>
                  <a:srgbClr val="FFFFFF"/>
                </a:solidFill>
              </a:rPr>
              <a:t>Yes. Supervisor says BUY; Trade Agent
may say HOLD if position already open.</a:t>
            </a:r>
          </a:p>
        </p:txBody>
      </p:sp>
      <p:sp>
        <p:nvSpPr>
          <p:cNvPr id="34" name="Rectangle 33"/>
          <p:cNvSpPr/>
          <p:nvPr/>
        </p:nvSpPr>
        <p:spPr>
          <a:xfrm>
            <a:off x="4160520" y="1097280"/>
            <a:ext cx="36576" cy="6144768"/>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75320" y="1097280"/>
            <a:ext cx="36576" cy="6144768"/>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Trade Execution Agent  &amp;  Reflection Agent</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Safety enforcement and learning from past trades</a:t>
            </a:r>
          </a:p>
        </p:txBody>
      </p:sp>
      <p:sp>
        <p:nvSpPr>
          <p:cNvPr id="6" name="Rectangle 5"/>
          <p:cNvSpPr/>
          <p:nvPr/>
        </p:nvSpPr>
        <p:spPr>
          <a:xfrm>
            <a:off x="228600" y="1097280"/>
            <a:ext cx="5577840" cy="5486400"/>
          </a:xfrm>
          <a:prstGeom prst="rect">
            <a:avLst/>
          </a:prstGeom>
          <a:solidFill>
            <a:srgbClr val="0A1E30"/>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70432"/>
            <a:ext cx="5303520" cy="384048"/>
          </a:xfrm>
          <a:prstGeom prst="rect">
            <a:avLst/>
          </a:prstGeom>
          <a:noFill/>
        </p:spPr>
        <p:txBody>
          <a:bodyPr wrap="square">
            <a:spAutoFit/>
          </a:bodyPr>
          <a:lstStyle/>
          <a:p>
            <a:pPr algn="l"/>
            <a:r>
              <a:rPr sz="1600" b="1">
                <a:solidFill>
                  <a:srgbClr val="00E596"/>
                </a:solidFill>
              </a:rPr>
              <a:t>Trade Execution Agent</a:t>
            </a:r>
          </a:p>
        </p:txBody>
      </p:sp>
      <p:sp>
        <p:nvSpPr>
          <p:cNvPr id="8" name="TextBox 7"/>
          <p:cNvSpPr txBox="1"/>
          <p:nvPr/>
        </p:nvSpPr>
        <p:spPr>
          <a:xfrm>
            <a:off x="384048" y="1627632"/>
            <a:ext cx="5166360" cy="274320"/>
          </a:xfrm>
          <a:prstGeom prst="rect">
            <a:avLst/>
          </a:prstGeom>
          <a:noFill/>
        </p:spPr>
        <p:txBody>
          <a:bodyPr wrap="square">
            <a:spAutoFit/>
          </a:bodyPr>
          <a:lstStyle/>
          <a:p>
            <a:pPr algn="l"/>
            <a:r>
              <a:rPr sz="1200" b="1">
                <a:solidFill>
                  <a:srgbClr val="00E596"/>
                </a:solidFill>
              </a:rPr>
              <a:t>What it does</a:t>
            </a:r>
          </a:p>
        </p:txBody>
      </p:sp>
      <p:sp>
        <p:nvSpPr>
          <p:cNvPr id="9" name="TextBox 8"/>
          <p:cNvSpPr txBox="1"/>
          <p:nvPr/>
        </p:nvSpPr>
        <p:spPr>
          <a:xfrm>
            <a:off x="384048" y="1901952"/>
            <a:ext cx="5166360" cy="960120"/>
          </a:xfrm>
          <a:prstGeom prst="rect">
            <a:avLst/>
          </a:prstGeom>
          <a:noFill/>
        </p:spPr>
        <p:txBody>
          <a:bodyPr wrap="square">
            <a:spAutoFit/>
          </a:bodyPr>
          <a:lstStyle/>
          <a:p>
            <a:pPr algn="l"/>
            <a:r>
              <a:rPr sz="1100" b="0">
                <a:solidFill>
                  <a:srgbClr val="B0C4D8"/>
                </a:solidFill>
              </a:rPr>
              <a:t>Receives the trade decision and applies a series of
deterministic safety checks before placing any order.
If all checks pass and TRADING_ENABLED is on,
it submits a market order to Alpaca Paper Trading API.</a:t>
            </a:r>
          </a:p>
        </p:txBody>
      </p:sp>
      <p:sp>
        <p:nvSpPr>
          <p:cNvPr id="10" name="TextBox 9"/>
          <p:cNvSpPr txBox="1"/>
          <p:nvPr/>
        </p:nvSpPr>
        <p:spPr>
          <a:xfrm>
            <a:off x="384048" y="2926080"/>
            <a:ext cx="5166360" cy="274320"/>
          </a:xfrm>
          <a:prstGeom prst="rect">
            <a:avLst/>
          </a:prstGeom>
          <a:noFill/>
        </p:spPr>
        <p:txBody>
          <a:bodyPr wrap="square">
            <a:spAutoFit/>
          </a:bodyPr>
          <a:lstStyle/>
          <a:p>
            <a:pPr algn="l"/>
            <a:r>
              <a:rPr sz="1200" b="1">
                <a:solidFill>
                  <a:srgbClr val="FFB800"/>
                </a:solidFill>
              </a:rPr>
              <a:t>Why it exists</a:t>
            </a:r>
          </a:p>
        </p:txBody>
      </p:sp>
      <p:sp>
        <p:nvSpPr>
          <p:cNvPr id="11" name="TextBox 10"/>
          <p:cNvSpPr txBox="1"/>
          <p:nvPr/>
        </p:nvSpPr>
        <p:spPr>
          <a:xfrm>
            <a:off x="384048" y="3200400"/>
            <a:ext cx="5166360" cy="960120"/>
          </a:xfrm>
          <a:prstGeom prst="rect">
            <a:avLst/>
          </a:prstGeom>
          <a:noFill/>
        </p:spPr>
        <p:txBody>
          <a:bodyPr wrap="square">
            <a:spAutoFit/>
          </a:bodyPr>
          <a:lstStyle/>
          <a:p>
            <a:pPr algn="l"/>
            <a:r>
              <a:rPr sz="1100" b="0">
                <a:solidFill>
                  <a:srgbClr val="B0C4D8"/>
                </a:solidFill>
              </a:rPr>
              <a:t>An LLM can output BUY at 0.55 confidence for a stock
you already hold 3 positions in. The execution agent
is the last line of defense — it enforces hard rules:
minimum confidence · max open positions · no pyramiding
position size cap · circuit breaker if daily loss &gt; limit</a:t>
            </a:r>
          </a:p>
        </p:txBody>
      </p:sp>
      <p:sp>
        <p:nvSpPr>
          <p:cNvPr id="12" name="TextBox 11"/>
          <p:cNvSpPr txBox="1"/>
          <p:nvPr/>
        </p:nvSpPr>
        <p:spPr>
          <a:xfrm>
            <a:off x="384048" y="4224528"/>
            <a:ext cx="5166360" cy="274320"/>
          </a:xfrm>
          <a:prstGeom prst="rect">
            <a:avLst/>
          </a:prstGeom>
          <a:noFill/>
        </p:spPr>
        <p:txBody>
          <a:bodyPr wrap="square">
            <a:spAutoFit/>
          </a:bodyPr>
          <a:lstStyle/>
          <a:p>
            <a:pPr algn="l"/>
            <a:r>
              <a:rPr sz="1200" b="1">
                <a:solidFill>
                  <a:srgbClr val="00C2FF"/>
                </a:solidFill>
              </a:rPr>
              <a:t>Execution modes</a:t>
            </a:r>
          </a:p>
        </p:txBody>
      </p:sp>
      <p:sp>
        <p:nvSpPr>
          <p:cNvPr id="13" name="TextBox 12"/>
          <p:cNvSpPr txBox="1"/>
          <p:nvPr/>
        </p:nvSpPr>
        <p:spPr>
          <a:xfrm>
            <a:off x="384048" y="4498848"/>
            <a:ext cx="5166360" cy="960120"/>
          </a:xfrm>
          <a:prstGeom prst="rect">
            <a:avLst/>
          </a:prstGeom>
          <a:noFill/>
        </p:spPr>
        <p:txBody>
          <a:bodyPr wrap="square">
            <a:spAutoFit/>
          </a:bodyPr>
          <a:lstStyle/>
          <a:p>
            <a:pPr algn="l"/>
            <a:r>
              <a:rPr sz="1100" b="0">
                <a:solidFill>
                  <a:srgbClr val="B0C4D8"/>
                </a:solidFill>
              </a:rPr>
              <a:t>execute:         real Alpaca paper order
virtual_execute: simulated position, no order sent
skip:            HOLD or rule violation — log only</a:t>
            </a:r>
          </a:p>
        </p:txBody>
      </p:sp>
      <p:sp>
        <p:nvSpPr>
          <p:cNvPr id="14" name="Rectangle 13"/>
          <p:cNvSpPr/>
          <p:nvPr/>
        </p:nvSpPr>
        <p:spPr>
          <a:xfrm>
            <a:off x="6035040" y="1097280"/>
            <a:ext cx="5897880" cy="5486400"/>
          </a:xfrm>
          <a:prstGeom prst="rect">
            <a:avLst/>
          </a:prstGeom>
          <a:solidFill>
            <a:srgbClr val="0A1E15"/>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1170432"/>
            <a:ext cx="5577840" cy="384048"/>
          </a:xfrm>
          <a:prstGeom prst="rect">
            <a:avLst/>
          </a:prstGeom>
          <a:noFill/>
        </p:spPr>
        <p:txBody>
          <a:bodyPr wrap="square">
            <a:spAutoFit/>
          </a:bodyPr>
          <a:lstStyle/>
          <a:p>
            <a:pPr algn="l"/>
            <a:r>
              <a:rPr sz="1600" b="1">
                <a:solidFill>
                  <a:srgbClr val="FFB800"/>
                </a:solidFill>
              </a:rPr>
              <a:t>Reflection Agent</a:t>
            </a:r>
          </a:p>
        </p:txBody>
      </p:sp>
      <p:sp>
        <p:nvSpPr>
          <p:cNvPr id="16" name="TextBox 15"/>
          <p:cNvSpPr txBox="1"/>
          <p:nvPr/>
        </p:nvSpPr>
        <p:spPr>
          <a:xfrm>
            <a:off x="6190488" y="1627632"/>
            <a:ext cx="5577840" cy="274320"/>
          </a:xfrm>
          <a:prstGeom prst="rect">
            <a:avLst/>
          </a:prstGeom>
          <a:noFill/>
        </p:spPr>
        <p:txBody>
          <a:bodyPr wrap="square">
            <a:spAutoFit/>
          </a:bodyPr>
          <a:lstStyle/>
          <a:p>
            <a:pPr algn="l"/>
            <a:r>
              <a:rPr sz="1200" b="1">
                <a:solidFill>
                  <a:srgbClr val="FFB800"/>
                </a:solidFill>
              </a:rPr>
              <a:t>What it does</a:t>
            </a:r>
          </a:p>
        </p:txBody>
      </p:sp>
      <p:sp>
        <p:nvSpPr>
          <p:cNvPr id="17" name="TextBox 16"/>
          <p:cNvSpPr txBox="1"/>
          <p:nvPr/>
        </p:nvSpPr>
        <p:spPr>
          <a:xfrm>
            <a:off x="6190488" y="1901952"/>
            <a:ext cx="5577840" cy="960120"/>
          </a:xfrm>
          <a:prstGeom prst="rect">
            <a:avLst/>
          </a:prstGeom>
          <a:noFill/>
        </p:spPr>
        <p:txBody>
          <a:bodyPr wrap="square">
            <a:spAutoFit/>
          </a:bodyPr>
          <a:lstStyle/>
          <a:p>
            <a:pPr algn="l"/>
            <a:r>
              <a:rPr sz="1100" b="0">
                <a:solidFill>
                  <a:srgbClr val="B0C4D8"/>
                </a:solidFill>
              </a:rPr>
              <a:t>Triggered after a position closes (P&amp;L is known).
Receives the original decision, market context at entry,
and the final outcome. Writes a structured lesson:
what happened, why, and what to do differently.</a:t>
            </a:r>
          </a:p>
        </p:txBody>
      </p:sp>
      <p:sp>
        <p:nvSpPr>
          <p:cNvPr id="18" name="TextBox 17"/>
          <p:cNvSpPr txBox="1"/>
          <p:nvPr/>
        </p:nvSpPr>
        <p:spPr>
          <a:xfrm>
            <a:off x="6190488" y="2926080"/>
            <a:ext cx="5577840" cy="274320"/>
          </a:xfrm>
          <a:prstGeom prst="rect">
            <a:avLst/>
          </a:prstGeom>
          <a:noFill/>
        </p:spPr>
        <p:txBody>
          <a:bodyPr wrap="square">
            <a:spAutoFit/>
          </a:bodyPr>
          <a:lstStyle/>
          <a:p>
            <a:pPr algn="l"/>
            <a:r>
              <a:rPr sz="1200" b="1">
                <a:solidFill>
                  <a:srgbClr val="00E596"/>
                </a:solidFill>
              </a:rPr>
              <a:t>Why it exists</a:t>
            </a:r>
          </a:p>
        </p:txBody>
      </p:sp>
      <p:sp>
        <p:nvSpPr>
          <p:cNvPr id="19" name="TextBox 18"/>
          <p:cNvSpPr txBox="1"/>
          <p:nvPr/>
        </p:nvSpPr>
        <p:spPr>
          <a:xfrm>
            <a:off x="6190488" y="3200400"/>
            <a:ext cx="5577840" cy="960120"/>
          </a:xfrm>
          <a:prstGeom prst="rect">
            <a:avLst/>
          </a:prstGeom>
          <a:noFill/>
        </p:spPr>
        <p:txBody>
          <a:bodyPr wrap="square">
            <a:spAutoFit/>
          </a:bodyPr>
          <a:lstStyle/>
          <a:p>
            <a:pPr algn="l"/>
            <a:r>
              <a:rPr sz="1100" b="0">
                <a:solidFill>
                  <a:srgbClr val="B0C4D8"/>
                </a:solidFill>
              </a:rPr>
              <a:t>Without memory, the trading agent makes the same
mistakes repeatedly. The Reflection Agent converts
every closed trade into a teachable lesson that is
stored in a vector database (pgvector).</a:t>
            </a:r>
          </a:p>
        </p:txBody>
      </p:sp>
      <p:sp>
        <p:nvSpPr>
          <p:cNvPr id="20" name="TextBox 19"/>
          <p:cNvSpPr txBox="1"/>
          <p:nvPr/>
        </p:nvSpPr>
        <p:spPr>
          <a:xfrm>
            <a:off x="6190488" y="4224528"/>
            <a:ext cx="5577840" cy="274320"/>
          </a:xfrm>
          <a:prstGeom prst="rect">
            <a:avLst/>
          </a:prstGeom>
          <a:noFill/>
        </p:spPr>
        <p:txBody>
          <a:bodyPr wrap="square">
            <a:spAutoFit/>
          </a:bodyPr>
          <a:lstStyle/>
          <a:p>
            <a:pPr algn="l"/>
            <a:r>
              <a:rPr sz="1200" b="1">
                <a:solidFill>
                  <a:srgbClr val="00C2FF"/>
                </a:solidFill>
              </a:rPr>
              <a:t>How the loop closes</a:t>
            </a:r>
          </a:p>
        </p:txBody>
      </p:sp>
      <p:sp>
        <p:nvSpPr>
          <p:cNvPr id="21" name="TextBox 20"/>
          <p:cNvSpPr txBox="1"/>
          <p:nvPr/>
        </p:nvSpPr>
        <p:spPr>
          <a:xfrm>
            <a:off x="6190488" y="4498848"/>
            <a:ext cx="5577840" cy="960120"/>
          </a:xfrm>
          <a:prstGeom prst="rect">
            <a:avLst/>
          </a:prstGeom>
          <a:noFill/>
        </p:spPr>
        <p:txBody>
          <a:bodyPr wrap="square">
            <a:spAutoFit/>
          </a:bodyPr>
          <a:lstStyle/>
          <a:p>
            <a:pPr algn="l"/>
            <a:r>
              <a:rPr sz="1100" b="0">
                <a:solidFill>
                  <a:srgbClr val="B0C4D8"/>
                </a:solidFill>
              </a:rPr>
              <a:t>Memory Retrieval fetches similar past situations
before each new trade decision.
The agent literally learns from its own history:
'Last time SPY was trending down and RSI was 72,
I bought and lost. I should hold this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2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48640"/>
          </a:xfrm>
          <a:prstGeom prst="rect">
            <a:avLst/>
          </a:prstGeom>
          <a:noFill/>
        </p:spPr>
        <p:txBody>
          <a:bodyPr wrap="square">
            <a:spAutoFit/>
          </a:bodyPr>
          <a:lstStyle/>
          <a:p>
            <a:pPr algn="l"/>
            <a:r>
              <a:rPr sz="2800" b="1">
                <a:solidFill>
                  <a:srgbClr val="00C2FF"/>
                </a:solidFill>
              </a:rPr>
              <a:t>Historical Backtesting</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7EC8E3"/>
                </a:solidFill>
              </a:rPr>
              <a:t>Replay the past day by day — the agent never sees the future</a:t>
            </a:r>
          </a:p>
        </p:txBody>
      </p:sp>
      <p:sp>
        <p:nvSpPr>
          <p:cNvPr id="6" name="Rectangle 5"/>
          <p:cNvSpPr/>
          <p:nvPr/>
        </p:nvSpPr>
        <p:spPr>
          <a:xfrm>
            <a:off x="274320" y="1097280"/>
            <a:ext cx="7315200" cy="320040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88720"/>
            <a:ext cx="7040880" cy="365760"/>
          </a:xfrm>
          <a:prstGeom prst="rect">
            <a:avLst/>
          </a:prstGeom>
          <a:noFill/>
        </p:spPr>
        <p:txBody>
          <a:bodyPr wrap="square">
            <a:spAutoFit/>
          </a:bodyPr>
          <a:lstStyle/>
          <a:p>
            <a:pPr algn="l"/>
            <a:r>
              <a:rPr sz="1400" b="1">
                <a:solidFill>
                  <a:srgbClr val="00C2FF"/>
                </a:solidFill>
              </a:rPr>
              <a:t>How the Backtest Engine Works</a:t>
            </a:r>
          </a:p>
        </p:txBody>
      </p:sp>
      <p:sp>
        <p:nvSpPr>
          <p:cNvPr id="8" name="TextBox 7"/>
          <p:cNvSpPr txBox="1"/>
          <p:nvPr/>
        </p:nvSpPr>
        <p:spPr>
          <a:xfrm>
            <a:off x="457200" y="1572768"/>
            <a:ext cx="6949440" cy="260603"/>
          </a:xfrm>
          <a:prstGeom prst="rect">
            <a:avLst/>
          </a:prstGeom>
          <a:noFill/>
        </p:spPr>
        <p:txBody>
          <a:bodyPr wrap="square">
            <a:spAutoFit/>
          </a:bodyPr>
          <a:lstStyle/>
          <a:p>
            <a:pPr algn="l"/>
            <a:r>
              <a:rPr sz="1200" b="0">
                <a:solidFill>
                  <a:srgbClr val="B0C4D8"/>
                </a:solidFill>
              </a:rPr>
              <a:t>1.  Pull full OHLCV history from Alpaca for the selected date range.</a:t>
            </a:r>
          </a:p>
        </p:txBody>
      </p:sp>
      <p:sp>
        <p:nvSpPr>
          <p:cNvPr id="9" name="TextBox 8"/>
          <p:cNvSpPr txBox="1"/>
          <p:nvPr/>
        </p:nvSpPr>
        <p:spPr>
          <a:xfrm>
            <a:off x="457200" y="1833371"/>
            <a:ext cx="6949440" cy="260603"/>
          </a:xfrm>
          <a:prstGeom prst="rect">
            <a:avLst/>
          </a:prstGeom>
          <a:noFill/>
        </p:spPr>
        <p:txBody>
          <a:bodyPr wrap="square">
            <a:spAutoFit/>
          </a:bodyPr>
          <a:lstStyle/>
          <a:p>
            <a:pPr algn="l"/>
            <a:r>
              <a:rPr sz="1200" b="0">
                <a:solidFill>
                  <a:srgbClr val="B0C4D8"/>
                </a:solidFill>
              </a:rPr>
              <a:t>    365-day warmup added before start date so indicators are accurate.</a:t>
            </a:r>
          </a:p>
        </p:txBody>
      </p:sp>
      <p:sp>
        <p:nvSpPr>
          <p:cNvPr id="10" name="TextBox 9"/>
          <p:cNvSpPr txBox="1"/>
          <p:nvPr/>
        </p:nvSpPr>
        <p:spPr>
          <a:xfrm>
            <a:off x="457200" y="2093974"/>
            <a:ext cx="6949440" cy="260603"/>
          </a:xfrm>
          <a:prstGeom prst="rect">
            <a:avLst/>
          </a:prstGeom>
          <a:noFill/>
        </p:spPr>
        <p:txBody>
          <a:bodyPr wrap="square">
            <a:spAutoFit/>
          </a:bodyPr>
          <a:lstStyle/>
          <a:p>
            <a:pPr algn="l"/>
            <a:r>
              <a:rPr sz="1200" b="0">
                <a:solidFill>
                  <a:srgbClr val="B0C4D8"/>
                </a:solidFill>
              </a:rPr>
              <a:t/>
            </a:r>
          </a:p>
        </p:txBody>
      </p:sp>
      <p:sp>
        <p:nvSpPr>
          <p:cNvPr id="11" name="TextBox 10"/>
          <p:cNvSpPr txBox="1"/>
          <p:nvPr/>
        </p:nvSpPr>
        <p:spPr>
          <a:xfrm>
            <a:off x="457200" y="2354577"/>
            <a:ext cx="6949440" cy="260603"/>
          </a:xfrm>
          <a:prstGeom prst="rect">
            <a:avLst/>
          </a:prstGeom>
          <a:noFill/>
        </p:spPr>
        <p:txBody>
          <a:bodyPr wrap="square">
            <a:spAutoFit/>
          </a:bodyPr>
          <a:lstStyle/>
          <a:p>
            <a:pPr algn="l"/>
            <a:r>
              <a:rPr sz="1200" b="0">
                <a:solidFill>
                  <a:srgbClr val="B0C4D8"/>
                </a:solidFill>
              </a:rPr>
              <a:t>2.  Replay the period day by day.</a:t>
            </a:r>
          </a:p>
        </p:txBody>
      </p:sp>
      <p:sp>
        <p:nvSpPr>
          <p:cNvPr id="12" name="TextBox 11"/>
          <p:cNvSpPr txBox="1"/>
          <p:nvPr/>
        </p:nvSpPr>
        <p:spPr>
          <a:xfrm>
            <a:off x="457200" y="2615180"/>
            <a:ext cx="6949440" cy="260603"/>
          </a:xfrm>
          <a:prstGeom prst="rect">
            <a:avLst/>
          </a:prstGeom>
          <a:noFill/>
        </p:spPr>
        <p:txBody>
          <a:bodyPr wrap="square">
            <a:spAutoFit/>
          </a:bodyPr>
          <a:lstStyle/>
          <a:p>
            <a:pPr algn="l"/>
            <a:r>
              <a:rPr sz="1200" b="0">
                <a:solidFill>
                  <a:srgbClr val="B0C4D8"/>
                </a:solidFill>
              </a:rPr>
              <a:t>    On each day the agent sees only bars up to that date — zero look-ahead.</a:t>
            </a:r>
          </a:p>
        </p:txBody>
      </p:sp>
      <p:sp>
        <p:nvSpPr>
          <p:cNvPr id="13" name="TextBox 12"/>
          <p:cNvSpPr txBox="1"/>
          <p:nvPr/>
        </p:nvSpPr>
        <p:spPr>
          <a:xfrm>
            <a:off x="457200" y="2875783"/>
            <a:ext cx="6949440" cy="260603"/>
          </a:xfrm>
          <a:prstGeom prst="rect">
            <a:avLst/>
          </a:prstGeom>
          <a:noFill/>
        </p:spPr>
        <p:txBody>
          <a:bodyPr wrap="square">
            <a:spAutoFit/>
          </a:bodyPr>
          <a:lstStyle/>
          <a:p>
            <a:pPr algn="l"/>
            <a:r>
              <a:rPr sz="1200" b="0">
                <a:solidFill>
                  <a:srgbClr val="B0C4D8"/>
                </a:solidFill>
              </a:rPr>
              <a:t/>
            </a:r>
          </a:p>
        </p:txBody>
      </p:sp>
      <p:sp>
        <p:nvSpPr>
          <p:cNvPr id="14" name="TextBox 13"/>
          <p:cNvSpPr txBox="1"/>
          <p:nvPr/>
        </p:nvSpPr>
        <p:spPr>
          <a:xfrm>
            <a:off x="457200" y="3136386"/>
            <a:ext cx="6949440" cy="260603"/>
          </a:xfrm>
          <a:prstGeom prst="rect">
            <a:avLst/>
          </a:prstGeom>
          <a:noFill/>
        </p:spPr>
        <p:txBody>
          <a:bodyPr wrap="square">
            <a:spAutoFit/>
          </a:bodyPr>
          <a:lstStyle/>
          <a:p>
            <a:pPr algn="l"/>
            <a:r>
              <a:rPr sz="1200" b="0">
                <a:solidFill>
                  <a:srgbClr val="B0C4D8"/>
                </a:solidFill>
              </a:rPr>
              <a:t>3.  Trade Decision Agent makes a BUY / SELL / HOLD call as if it were live.</a:t>
            </a:r>
          </a:p>
        </p:txBody>
      </p:sp>
      <p:sp>
        <p:nvSpPr>
          <p:cNvPr id="15" name="TextBox 14"/>
          <p:cNvSpPr txBox="1"/>
          <p:nvPr/>
        </p:nvSpPr>
        <p:spPr>
          <a:xfrm>
            <a:off x="457200" y="3396989"/>
            <a:ext cx="6949440" cy="260603"/>
          </a:xfrm>
          <a:prstGeom prst="rect">
            <a:avLst/>
          </a:prstGeom>
          <a:noFill/>
        </p:spPr>
        <p:txBody>
          <a:bodyPr wrap="square">
            <a:spAutoFit/>
          </a:bodyPr>
          <a:lstStyle/>
          <a:p>
            <a:pPr algn="l"/>
            <a:r>
              <a:rPr sz="1200" b="0">
                <a:solidFill>
                  <a:srgbClr val="B0C4D8"/>
                </a:solidFill>
              </a:rPr>
              <a:t/>
            </a:r>
          </a:p>
        </p:txBody>
      </p:sp>
      <p:sp>
        <p:nvSpPr>
          <p:cNvPr id="16" name="TextBox 15"/>
          <p:cNvSpPr txBox="1"/>
          <p:nvPr/>
        </p:nvSpPr>
        <p:spPr>
          <a:xfrm>
            <a:off x="457200" y="3657592"/>
            <a:ext cx="6949440" cy="260603"/>
          </a:xfrm>
          <a:prstGeom prst="rect">
            <a:avLst/>
          </a:prstGeom>
          <a:noFill/>
        </p:spPr>
        <p:txBody>
          <a:bodyPr wrap="square">
            <a:spAutoFit/>
          </a:bodyPr>
          <a:lstStyle/>
          <a:p>
            <a:pPr algn="l"/>
            <a:r>
              <a:rPr sz="1200" b="0">
                <a:solidFill>
                  <a:srgbClr val="B0C4D8"/>
                </a:solidFill>
              </a:rPr>
              <a:t>4.  Entries and exits are simulated locally using that day's close price.</a:t>
            </a:r>
          </a:p>
        </p:txBody>
      </p:sp>
      <p:sp>
        <p:nvSpPr>
          <p:cNvPr id="17" name="TextBox 16"/>
          <p:cNvSpPr txBox="1"/>
          <p:nvPr/>
        </p:nvSpPr>
        <p:spPr>
          <a:xfrm>
            <a:off x="457200" y="3918195"/>
            <a:ext cx="6949440" cy="260603"/>
          </a:xfrm>
          <a:prstGeom prst="rect">
            <a:avLst/>
          </a:prstGeom>
          <a:noFill/>
        </p:spPr>
        <p:txBody>
          <a:bodyPr wrap="square">
            <a:spAutoFit/>
          </a:bodyPr>
          <a:lstStyle/>
          <a:p>
            <a:pPr algn="l"/>
            <a:r>
              <a:rPr sz="1200" b="0">
                <a:solidFill>
                  <a:srgbClr val="B0C4D8"/>
                </a:solidFill>
              </a:rPr>
              <a:t/>
            </a:r>
          </a:p>
        </p:txBody>
      </p:sp>
      <p:sp>
        <p:nvSpPr>
          <p:cNvPr id="18" name="TextBox 17"/>
          <p:cNvSpPr txBox="1"/>
          <p:nvPr/>
        </p:nvSpPr>
        <p:spPr>
          <a:xfrm>
            <a:off x="457200" y="4178798"/>
            <a:ext cx="6949440" cy="260603"/>
          </a:xfrm>
          <a:prstGeom prst="rect">
            <a:avLst/>
          </a:prstGeom>
          <a:noFill/>
        </p:spPr>
        <p:txBody>
          <a:bodyPr wrap="square">
            <a:spAutoFit/>
          </a:bodyPr>
          <a:lstStyle/>
          <a:p>
            <a:pPr algn="l"/>
            <a:r>
              <a:rPr sz="1200" b="0">
                <a:solidFill>
                  <a:srgbClr val="B0C4D8"/>
                </a:solidFill>
              </a:rPr>
              <a:t>5.  Equity curve, P&amp;L, and drawdown are tracked for the full period.</a:t>
            </a:r>
          </a:p>
        </p:txBody>
      </p:sp>
      <p:sp>
        <p:nvSpPr>
          <p:cNvPr id="19" name="Rectangle 18"/>
          <p:cNvSpPr/>
          <p:nvPr/>
        </p:nvSpPr>
        <p:spPr>
          <a:xfrm>
            <a:off x="7772400" y="1097280"/>
            <a:ext cx="4206240" cy="320040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1188720"/>
            <a:ext cx="3931920" cy="365760"/>
          </a:xfrm>
          <a:prstGeom prst="rect">
            <a:avLst/>
          </a:prstGeom>
          <a:noFill/>
        </p:spPr>
        <p:txBody>
          <a:bodyPr wrap="square">
            <a:spAutoFit/>
          </a:bodyPr>
          <a:lstStyle/>
          <a:p>
            <a:pPr algn="l"/>
            <a:r>
              <a:rPr sz="1400" b="1">
                <a:solidFill>
                  <a:srgbClr val="00E596"/>
                </a:solidFill>
              </a:rPr>
              <a:t>Backtest Output</a:t>
            </a:r>
          </a:p>
        </p:txBody>
      </p:sp>
      <p:sp>
        <p:nvSpPr>
          <p:cNvPr id="21" name="TextBox 20"/>
          <p:cNvSpPr txBox="1"/>
          <p:nvPr/>
        </p:nvSpPr>
        <p:spPr>
          <a:xfrm>
            <a:off x="7955280" y="1572768"/>
            <a:ext cx="3840480" cy="260603"/>
          </a:xfrm>
          <a:prstGeom prst="rect">
            <a:avLst/>
          </a:prstGeom>
          <a:noFill/>
        </p:spPr>
        <p:txBody>
          <a:bodyPr wrap="square">
            <a:spAutoFit/>
          </a:bodyPr>
          <a:lstStyle/>
          <a:p>
            <a:pPr algn="l"/>
            <a:r>
              <a:rPr sz="1200" b="0">
                <a:solidFill>
                  <a:srgbClr val="B0C4D8"/>
                </a:solidFill>
              </a:rPr>
              <a:t>Initial capital &amp; final equity</a:t>
            </a:r>
          </a:p>
        </p:txBody>
      </p:sp>
      <p:sp>
        <p:nvSpPr>
          <p:cNvPr id="22" name="TextBox 21"/>
          <p:cNvSpPr txBox="1"/>
          <p:nvPr/>
        </p:nvSpPr>
        <p:spPr>
          <a:xfrm>
            <a:off x="7955280" y="1833371"/>
            <a:ext cx="3840480" cy="260603"/>
          </a:xfrm>
          <a:prstGeom prst="rect">
            <a:avLst/>
          </a:prstGeom>
          <a:noFill/>
        </p:spPr>
        <p:txBody>
          <a:bodyPr wrap="square">
            <a:spAutoFit/>
          </a:bodyPr>
          <a:lstStyle/>
          <a:p>
            <a:pPr algn="l"/>
            <a:r>
              <a:rPr sz="1200" b="0">
                <a:solidFill>
                  <a:srgbClr val="B0C4D8"/>
                </a:solidFill>
              </a:rPr>
              <a:t>Agent return %</a:t>
            </a:r>
          </a:p>
        </p:txBody>
      </p:sp>
      <p:sp>
        <p:nvSpPr>
          <p:cNvPr id="23" name="TextBox 22"/>
          <p:cNvSpPr txBox="1"/>
          <p:nvPr/>
        </p:nvSpPr>
        <p:spPr>
          <a:xfrm>
            <a:off x="7955280" y="2093974"/>
            <a:ext cx="3840480" cy="260603"/>
          </a:xfrm>
          <a:prstGeom prst="rect">
            <a:avLst/>
          </a:prstGeom>
          <a:noFill/>
        </p:spPr>
        <p:txBody>
          <a:bodyPr wrap="square">
            <a:spAutoFit/>
          </a:bodyPr>
          <a:lstStyle/>
          <a:p>
            <a:pPr algn="l"/>
            <a:r>
              <a:rPr sz="1200" b="0">
                <a:solidFill>
                  <a:srgbClr val="B0C4D8"/>
                </a:solidFill>
              </a:rPr>
              <a:t>Maximum drawdown</a:t>
            </a:r>
          </a:p>
        </p:txBody>
      </p:sp>
      <p:sp>
        <p:nvSpPr>
          <p:cNvPr id="24" name="TextBox 23"/>
          <p:cNvSpPr txBox="1"/>
          <p:nvPr/>
        </p:nvSpPr>
        <p:spPr>
          <a:xfrm>
            <a:off x="7955280" y="2354577"/>
            <a:ext cx="3840480" cy="260603"/>
          </a:xfrm>
          <a:prstGeom prst="rect">
            <a:avLst/>
          </a:prstGeom>
          <a:noFill/>
        </p:spPr>
        <p:txBody>
          <a:bodyPr wrap="square">
            <a:spAutoFit/>
          </a:bodyPr>
          <a:lstStyle/>
          <a:p>
            <a:pPr algn="l"/>
            <a:r>
              <a:rPr sz="1200" b="0">
                <a:solidFill>
                  <a:srgbClr val="B0C4D8"/>
                </a:solidFill>
              </a:rPr>
              <a:t>Sharpe ratio</a:t>
            </a:r>
          </a:p>
        </p:txBody>
      </p:sp>
      <p:sp>
        <p:nvSpPr>
          <p:cNvPr id="25" name="TextBox 24"/>
          <p:cNvSpPr txBox="1"/>
          <p:nvPr/>
        </p:nvSpPr>
        <p:spPr>
          <a:xfrm>
            <a:off x="7955280" y="2615180"/>
            <a:ext cx="3840480" cy="260603"/>
          </a:xfrm>
          <a:prstGeom prst="rect">
            <a:avLst/>
          </a:prstGeom>
          <a:noFill/>
        </p:spPr>
        <p:txBody>
          <a:bodyPr wrap="square">
            <a:spAutoFit/>
          </a:bodyPr>
          <a:lstStyle/>
          <a:p>
            <a:pPr algn="l"/>
            <a:r>
              <a:rPr sz="1200" b="0">
                <a:solidFill>
                  <a:srgbClr val="B0C4D8"/>
                </a:solidFill>
              </a:rPr>
              <a:t>Decision count (BUY / SELL / HOLD)</a:t>
            </a:r>
          </a:p>
        </p:txBody>
      </p:sp>
      <p:sp>
        <p:nvSpPr>
          <p:cNvPr id="26" name="TextBox 25"/>
          <p:cNvSpPr txBox="1"/>
          <p:nvPr/>
        </p:nvSpPr>
        <p:spPr>
          <a:xfrm>
            <a:off x="7955280" y="2875783"/>
            <a:ext cx="3840480" cy="260603"/>
          </a:xfrm>
          <a:prstGeom prst="rect">
            <a:avLst/>
          </a:prstGeom>
          <a:noFill/>
        </p:spPr>
        <p:txBody>
          <a:bodyPr wrap="square">
            <a:spAutoFit/>
          </a:bodyPr>
          <a:lstStyle/>
          <a:p>
            <a:pPr algn="l"/>
            <a:r>
              <a:rPr sz="1200" b="0">
                <a:solidFill>
                  <a:srgbClr val="B0C4D8"/>
                </a:solidFill>
              </a:rPr>
              <a:t>Full trade list with entry/exit/PnL</a:t>
            </a:r>
          </a:p>
        </p:txBody>
      </p:sp>
      <p:sp>
        <p:nvSpPr>
          <p:cNvPr id="27" name="TextBox 26"/>
          <p:cNvSpPr txBox="1"/>
          <p:nvPr/>
        </p:nvSpPr>
        <p:spPr>
          <a:xfrm>
            <a:off x="7955280" y="3136386"/>
            <a:ext cx="3840480" cy="260603"/>
          </a:xfrm>
          <a:prstGeom prst="rect">
            <a:avLst/>
          </a:prstGeom>
          <a:noFill/>
        </p:spPr>
        <p:txBody>
          <a:bodyPr wrap="square">
            <a:spAutoFit/>
          </a:bodyPr>
          <a:lstStyle/>
          <a:p>
            <a:pPr algn="l"/>
            <a:r>
              <a:rPr sz="1200" b="0">
                <a:solidFill>
                  <a:srgbClr val="B0C4D8"/>
                </a:solidFill>
              </a:rPr>
              <a:t>Market data source label</a:t>
            </a:r>
          </a:p>
        </p:txBody>
      </p:sp>
      <p:sp>
        <p:nvSpPr>
          <p:cNvPr id="28" name="Rectangle 27"/>
          <p:cNvSpPr/>
          <p:nvPr/>
        </p:nvSpPr>
        <p:spPr>
          <a:xfrm>
            <a:off x="274320" y="4480560"/>
            <a:ext cx="11612880" cy="214884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4572000"/>
            <a:ext cx="11338560" cy="365760"/>
          </a:xfrm>
          <a:prstGeom prst="rect">
            <a:avLst/>
          </a:prstGeom>
          <a:noFill/>
        </p:spPr>
        <p:txBody>
          <a:bodyPr wrap="square">
            <a:spAutoFit/>
          </a:bodyPr>
          <a:lstStyle/>
          <a:p>
            <a:pPr algn="l"/>
            <a:r>
              <a:rPr sz="1400" b="1">
                <a:solidFill>
                  <a:srgbClr val="FFB800"/>
                </a:solidFill>
              </a:rPr>
              <a:t>Critical Distinction — Backtest vs Live Paper Trading</a:t>
            </a:r>
          </a:p>
        </p:txBody>
      </p:sp>
      <p:sp>
        <p:nvSpPr>
          <p:cNvPr id="30" name="TextBox 29"/>
          <p:cNvSpPr txBox="1"/>
          <p:nvPr/>
        </p:nvSpPr>
        <p:spPr>
          <a:xfrm>
            <a:off x="457200" y="4956048"/>
            <a:ext cx="11247120" cy="260603"/>
          </a:xfrm>
          <a:prstGeom prst="rect">
            <a:avLst/>
          </a:prstGeom>
          <a:noFill/>
        </p:spPr>
        <p:txBody>
          <a:bodyPr wrap="square">
            <a:spAutoFit/>
          </a:bodyPr>
          <a:lstStyle/>
          <a:p>
            <a:pPr algn="l"/>
            <a:r>
              <a:rPr sz="1200" b="0">
                <a:solidFill>
                  <a:srgbClr val="B0C4D8"/>
                </a:solidFill>
              </a:rPr>
              <a:t>Backtest trades are LOCAL simulation only.</a:t>
            </a:r>
          </a:p>
        </p:txBody>
      </p:sp>
      <p:sp>
        <p:nvSpPr>
          <p:cNvPr id="31" name="TextBox 30"/>
          <p:cNvSpPr txBox="1"/>
          <p:nvPr/>
        </p:nvSpPr>
        <p:spPr>
          <a:xfrm>
            <a:off x="457200" y="5216651"/>
            <a:ext cx="11247120" cy="260603"/>
          </a:xfrm>
          <a:prstGeom prst="rect">
            <a:avLst/>
          </a:prstGeom>
          <a:noFill/>
        </p:spPr>
        <p:txBody>
          <a:bodyPr wrap="square">
            <a:spAutoFit/>
          </a:bodyPr>
          <a:lstStyle/>
          <a:p>
            <a:pPr algn="l"/>
            <a:r>
              <a:rPr sz="1200" b="0">
                <a:solidFill>
                  <a:srgbClr val="B0C4D8"/>
                </a:solidFill>
              </a:rPr>
              <a:t>They do NOT appear in the Alpaca dashboard.</a:t>
            </a:r>
          </a:p>
        </p:txBody>
      </p:sp>
      <p:sp>
        <p:nvSpPr>
          <p:cNvPr id="32" name="TextBox 31"/>
          <p:cNvSpPr txBox="1"/>
          <p:nvPr/>
        </p:nvSpPr>
        <p:spPr>
          <a:xfrm>
            <a:off x="457200" y="5477254"/>
            <a:ext cx="11247120" cy="260603"/>
          </a:xfrm>
          <a:prstGeom prst="rect">
            <a:avLst/>
          </a:prstGeom>
          <a:noFill/>
        </p:spPr>
        <p:txBody>
          <a:bodyPr wrap="square">
            <a:spAutoFit/>
          </a:bodyPr>
          <a:lstStyle/>
          <a:p>
            <a:pPr algn="l"/>
            <a:r>
              <a:rPr sz="1200" b="0">
                <a:solidFill>
                  <a:srgbClr val="B0C4D8"/>
                </a:solidFill>
              </a:rPr>
              <a:t/>
            </a:r>
          </a:p>
        </p:txBody>
      </p:sp>
      <p:sp>
        <p:nvSpPr>
          <p:cNvPr id="33" name="TextBox 32"/>
          <p:cNvSpPr txBox="1"/>
          <p:nvPr/>
        </p:nvSpPr>
        <p:spPr>
          <a:xfrm>
            <a:off x="457200" y="5737857"/>
            <a:ext cx="11247120" cy="260603"/>
          </a:xfrm>
          <a:prstGeom prst="rect">
            <a:avLst/>
          </a:prstGeom>
          <a:noFill/>
        </p:spPr>
        <p:txBody>
          <a:bodyPr wrap="square">
            <a:spAutoFit/>
          </a:bodyPr>
          <a:lstStyle/>
          <a:p>
            <a:pPr algn="l"/>
            <a:r>
              <a:rPr sz="1200" b="0">
                <a:solidFill>
                  <a:srgbClr val="B0C4D8"/>
                </a:solidFill>
              </a:rPr>
              <a:t>Reason: Alpaca Paper Trading API cannot create historical fills for past dates.</a:t>
            </a:r>
          </a:p>
        </p:txBody>
      </p:sp>
      <p:sp>
        <p:nvSpPr>
          <p:cNvPr id="34" name="TextBox 33"/>
          <p:cNvSpPr txBox="1"/>
          <p:nvPr/>
        </p:nvSpPr>
        <p:spPr>
          <a:xfrm>
            <a:off x="457200" y="5998460"/>
            <a:ext cx="11247120" cy="260603"/>
          </a:xfrm>
          <a:prstGeom prst="rect">
            <a:avLst/>
          </a:prstGeom>
          <a:noFill/>
        </p:spPr>
        <p:txBody>
          <a:bodyPr wrap="square">
            <a:spAutoFit/>
          </a:bodyPr>
          <a:lstStyle/>
          <a:p>
            <a:pPr algn="l"/>
            <a:r>
              <a:rPr sz="1200" b="0">
                <a:solidFill>
                  <a:srgbClr val="B0C4D8"/>
                </a:solidFill>
              </a:rPr>
              <a:t>Orders in the Alpaca dashboard come only from live trading cycles (TRADING_ENABLED = true).</a:t>
            </a:r>
          </a:p>
        </p:txBody>
      </p:sp>
      <p:sp>
        <p:nvSpPr>
          <p:cNvPr id="35" name="TextBox 34"/>
          <p:cNvSpPr txBox="1"/>
          <p:nvPr/>
        </p:nvSpPr>
        <p:spPr>
          <a:xfrm>
            <a:off x="457200" y="6259063"/>
            <a:ext cx="11247120" cy="260603"/>
          </a:xfrm>
          <a:prstGeom prst="rect">
            <a:avLst/>
          </a:prstGeom>
          <a:noFill/>
        </p:spPr>
        <p:txBody>
          <a:bodyPr wrap="square">
            <a:spAutoFit/>
          </a:bodyPr>
          <a:lstStyle/>
          <a:p>
            <a:pPr algn="l"/>
            <a:r>
              <a:rPr sz="1200" b="0">
                <a:solidFill>
                  <a:srgbClr val="B0C4D8"/>
                </a:solidFill>
              </a:rPr>
              <a:t/>
            </a:r>
          </a:p>
        </p:txBody>
      </p:sp>
      <p:sp>
        <p:nvSpPr>
          <p:cNvPr id="36" name="TextBox 35"/>
          <p:cNvSpPr txBox="1"/>
          <p:nvPr/>
        </p:nvSpPr>
        <p:spPr>
          <a:xfrm>
            <a:off x="457200" y="6519666"/>
            <a:ext cx="11247120" cy="260603"/>
          </a:xfrm>
          <a:prstGeom prst="rect">
            <a:avLst/>
          </a:prstGeom>
          <a:noFill/>
        </p:spPr>
        <p:txBody>
          <a:bodyPr wrap="square">
            <a:spAutoFit/>
          </a:bodyPr>
          <a:lstStyle/>
          <a:p>
            <a:pPr algn="l"/>
            <a:r>
              <a:rPr sz="1200" b="0">
                <a:solidFill>
                  <a:srgbClr val="B0C4D8"/>
                </a:solidFill>
              </a:rPr>
              <a:t>This means: if you see trades in the backtest table but no orders in Alpaca, that is CORRECT behavior.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430000" cy="685800"/>
          </a:xfrm>
          <a:prstGeom prst="rect">
            <a:avLst/>
          </a:prstGeom>
          <a:noFill/>
        </p:spPr>
        <p:txBody>
          <a:bodyPr wrap="square">
            <a:spAutoFit/>
          </a:bodyPr>
          <a:lstStyle/>
          <a:p>
            <a:pPr algn="ctr"/>
            <a:r>
              <a:rPr sz="3800" b="1">
                <a:solidFill>
                  <a:srgbClr val="FFFFFF"/>
                </a:solidFill>
              </a:rPr>
              <a:t>Key Takeaways</a:t>
            </a:r>
          </a:p>
        </p:txBody>
      </p:sp>
      <p:sp>
        <p:nvSpPr>
          <p:cNvPr id="4" name="Rectangle 3"/>
          <p:cNvSpPr/>
          <p:nvPr/>
        </p:nvSpPr>
        <p:spPr>
          <a:xfrm>
            <a:off x="3200400" y="1234440"/>
            <a:ext cx="5760720" cy="4572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1463040"/>
            <a:ext cx="2788920" cy="3291840"/>
          </a:xfrm>
          <a:prstGeom prst="rect">
            <a:avLst/>
          </a:prstGeom>
          <a:solidFill>
            <a:srgbClr val="162A3D"/>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54480"/>
            <a:ext cx="2514600" cy="777240"/>
          </a:xfrm>
          <a:prstGeom prst="rect">
            <a:avLst/>
          </a:prstGeom>
          <a:noFill/>
        </p:spPr>
        <p:txBody>
          <a:bodyPr wrap="square">
            <a:spAutoFit/>
          </a:bodyPr>
          <a:lstStyle/>
          <a:p>
            <a:pPr algn="ctr"/>
            <a:r>
              <a:rPr sz="1700" b="1">
                <a:solidFill>
                  <a:srgbClr val="00C2FF"/>
                </a:solidFill>
              </a:rPr>
              <a:t>Separation
of Concerns</a:t>
            </a:r>
          </a:p>
        </p:txBody>
      </p:sp>
      <p:sp>
        <p:nvSpPr>
          <p:cNvPr id="7" name="Rectangle 6"/>
          <p:cNvSpPr/>
          <p:nvPr/>
        </p:nvSpPr>
        <p:spPr>
          <a:xfrm>
            <a:off x="685800" y="2331720"/>
            <a:ext cx="1874519"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450592"/>
            <a:ext cx="2514600" cy="2103120"/>
          </a:xfrm>
          <a:prstGeom prst="rect">
            <a:avLst/>
          </a:prstGeom>
          <a:noFill/>
        </p:spPr>
        <p:txBody>
          <a:bodyPr wrap="square">
            <a:spAutoFit/>
          </a:bodyPr>
          <a:lstStyle/>
          <a:p>
            <a:pPr algn="ctr"/>
            <a:r>
              <a:rPr sz="1200" b="0">
                <a:solidFill>
                  <a:srgbClr val="B0C4D8"/>
                </a:solidFill>
              </a:rPr>
              <a:t>Each agent has exactly one job.
Analysis, judgement, trade decision,
and execution are four separate layers.</a:t>
            </a:r>
          </a:p>
        </p:txBody>
      </p:sp>
      <p:sp>
        <p:nvSpPr>
          <p:cNvPr id="9" name="Rectangle 8"/>
          <p:cNvSpPr/>
          <p:nvPr/>
        </p:nvSpPr>
        <p:spPr>
          <a:xfrm>
            <a:off x="3218688" y="1463040"/>
            <a:ext cx="2788920" cy="3291840"/>
          </a:xfrm>
          <a:prstGeom prst="rect">
            <a:avLst/>
          </a:prstGeom>
          <a:solidFill>
            <a:srgbClr val="162A3D"/>
          </a:solidFill>
          <a:ln w="12700">
            <a:solidFill>
              <a:srgbClr val="00E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55848" y="1554480"/>
            <a:ext cx="2514600" cy="777240"/>
          </a:xfrm>
          <a:prstGeom prst="rect">
            <a:avLst/>
          </a:prstGeom>
          <a:noFill/>
        </p:spPr>
        <p:txBody>
          <a:bodyPr wrap="square">
            <a:spAutoFit/>
          </a:bodyPr>
          <a:lstStyle/>
          <a:p>
            <a:pPr algn="ctr"/>
            <a:r>
              <a:rPr sz="1700" b="1">
                <a:solidFill>
                  <a:srgbClr val="00E596"/>
                </a:solidFill>
              </a:rPr>
              <a:t>Explainability</a:t>
            </a:r>
          </a:p>
        </p:txBody>
      </p:sp>
      <p:sp>
        <p:nvSpPr>
          <p:cNvPr id="11" name="Rectangle 10"/>
          <p:cNvSpPr/>
          <p:nvPr/>
        </p:nvSpPr>
        <p:spPr>
          <a:xfrm>
            <a:off x="3675888" y="2331720"/>
            <a:ext cx="1874519"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55848" y="2450592"/>
            <a:ext cx="2514600" cy="2103120"/>
          </a:xfrm>
          <a:prstGeom prst="rect">
            <a:avLst/>
          </a:prstGeom>
          <a:noFill/>
        </p:spPr>
        <p:txBody>
          <a:bodyPr wrap="square">
            <a:spAutoFit/>
          </a:bodyPr>
          <a:lstStyle/>
          <a:p>
            <a:pPr algn="ctr"/>
            <a:r>
              <a:rPr sz="1200" b="0">
                <a:solidFill>
                  <a:srgbClr val="B0C4D8"/>
                </a:solidFill>
              </a:rPr>
              <a:t>Every decision is logged with reasoning.
Every agent output is visible in the UI.
Nothing happens inside a black box.</a:t>
            </a:r>
          </a:p>
        </p:txBody>
      </p:sp>
      <p:sp>
        <p:nvSpPr>
          <p:cNvPr id="13" name="Rectangle 12"/>
          <p:cNvSpPr/>
          <p:nvPr/>
        </p:nvSpPr>
        <p:spPr>
          <a:xfrm>
            <a:off x="6208776" y="1463040"/>
            <a:ext cx="2788920" cy="3291840"/>
          </a:xfrm>
          <a:prstGeom prst="rect">
            <a:avLst/>
          </a:prstGeom>
          <a:solidFill>
            <a:srgbClr val="162A3D"/>
          </a:solidFill>
          <a:ln w="127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1554480"/>
            <a:ext cx="2514600" cy="777240"/>
          </a:xfrm>
          <a:prstGeom prst="rect">
            <a:avLst/>
          </a:prstGeom>
          <a:noFill/>
        </p:spPr>
        <p:txBody>
          <a:bodyPr wrap="square">
            <a:spAutoFit/>
          </a:bodyPr>
          <a:lstStyle/>
          <a:p>
            <a:pPr algn="ctr"/>
            <a:r>
              <a:rPr sz="1700" b="1">
                <a:solidFill>
                  <a:srgbClr val="FFB800"/>
                </a:solidFill>
              </a:rPr>
              <a:t>Safety by Design</a:t>
            </a:r>
          </a:p>
        </p:txBody>
      </p:sp>
      <p:sp>
        <p:nvSpPr>
          <p:cNvPr id="15" name="Rectangle 14"/>
          <p:cNvSpPr/>
          <p:nvPr/>
        </p:nvSpPr>
        <p:spPr>
          <a:xfrm>
            <a:off x="6665976" y="2331720"/>
            <a:ext cx="1874519"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2450592"/>
            <a:ext cx="2514600" cy="2103120"/>
          </a:xfrm>
          <a:prstGeom prst="rect">
            <a:avLst/>
          </a:prstGeom>
          <a:noFill/>
        </p:spPr>
        <p:txBody>
          <a:bodyPr wrap="square">
            <a:spAutoFit/>
          </a:bodyPr>
          <a:lstStyle/>
          <a:p>
            <a:pPr algn="ctr"/>
            <a:r>
              <a:rPr sz="1200" b="0">
                <a:solidFill>
                  <a:srgbClr val="B0C4D8"/>
                </a:solidFill>
              </a:rPr>
              <a:t>Hard rules enforce position limits,
confidence thresholds, and circuit
breakers — regardless of LLM output.</a:t>
            </a:r>
          </a:p>
        </p:txBody>
      </p:sp>
      <p:sp>
        <p:nvSpPr>
          <p:cNvPr id="17" name="Rectangle 16"/>
          <p:cNvSpPr/>
          <p:nvPr/>
        </p:nvSpPr>
        <p:spPr>
          <a:xfrm>
            <a:off x="9198864" y="1463040"/>
            <a:ext cx="2788920" cy="3291840"/>
          </a:xfrm>
          <a:prstGeom prst="rect">
            <a:avLst/>
          </a:prstGeom>
          <a:solidFill>
            <a:srgbClr val="162A3D"/>
          </a:solidFill>
          <a:ln w="12700">
            <a:solidFill>
              <a:srgbClr val="FF4E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6024" y="1554480"/>
            <a:ext cx="2514600" cy="777240"/>
          </a:xfrm>
          <a:prstGeom prst="rect">
            <a:avLst/>
          </a:prstGeom>
          <a:noFill/>
        </p:spPr>
        <p:txBody>
          <a:bodyPr wrap="square">
            <a:spAutoFit/>
          </a:bodyPr>
          <a:lstStyle/>
          <a:p>
            <a:pPr algn="ctr"/>
            <a:r>
              <a:rPr sz="1700" b="1">
                <a:solidFill>
                  <a:srgbClr val="FF4E6A"/>
                </a:solidFill>
              </a:rPr>
              <a:t>Learning Over Time</a:t>
            </a:r>
          </a:p>
        </p:txBody>
      </p:sp>
      <p:sp>
        <p:nvSpPr>
          <p:cNvPr id="19" name="Rectangle 18"/>
          <p:cNvSpPr/>
          <p:nvPr/>
        </p:nvSpPr>
        <p:spPr>
          <a:xfrm>
            <a:off x="9656064" y="2331720"/>
            <a:ext cx="1874519" cy="36576"/>
          </a:xfrm>
          <a:prstGeom prst="rect">
            <a:avLst/>
          </a:prstGeom>
          <a:solidFill>
            <a:srgbClr val="FF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36024" y="2450592"/>
            <a:ext cx="2514600" cy="2103120"/>
          </a:xfrm>
          <a:prstGeom prst="rect">
            <a:avLst/>
          </a:prstGeom>
          <a:noFill/>
        </p:spPr>
        <p:txBody>
          <a:bodyPr wrap="square">
            <a:spAutoFit/>
          </a:bodyPr>
          <a:lstStyle/>
          <a:p>
            <a:pPr algn="ctr"/>
            <a:r>
              <a:rPr sz="1200" b="0">
                <a:solidFill>
                  <a:srgbClr val="B0C4D8"/>
                </a:solidFill>
              </a:rPr>
              <a:t>The Reflection Agent turns closed
trades into lessons stored in memory.
The system improves with each trade.</a:t>
            </a:r>
          </a:p>
        </p:txBody>
      </p:sp>
      <p:sp>
        <p:nvSpPr>
          <p:cNvPr id="21" name="Rectangle 20"/>
          <p:cNvSpPr/>
          <p:nvPr/>
        </p:nvSpPr>
        <p:spPr>
          <a:xfrm>
            <a:off x="457200" y="4956048"/>
            <a:ext cx="11247120" cy="36576"/>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102352"/>
            <a:ext cx="10698480" cy="1280160"/>
          </a:xfrm>
          <a:prstGeom prst="rect">
            <a:avLst/>
          </a:prstGeom>
          <a:noFill/>
        </p:spPr>
        <p:txBody>
          <a:bodyPr wrap="square">
            <a:spAutoFit/>
          </a:bodyPr>
          <a:lstStyle/>
          <a:p>
            <a:pPr algn="ctr"/>
            <a:r>
              <a:rPr sz="1600" b="0">
                <a:solidFill>
                  <a:srgbClr val="7EC8E3"/>
                </a:solidFill>
              </a:rPr>
              <a:t>"Instead of asking one LLM everything, we gave each concern its own agent.
The result is a system that is more transparent, more robust, and easier to improve."</a:t>
            </a:r>
          </a:p>
        </p:txBody>
      </p:sp>
      <p:sp>
        <p:nvSpPr>
          <p:cNvPr id="23" name="TextBox 22"/>
          <p:cNvSpPr txBox="1"/>
          <p:nvPr/>
        </p:nvSpPr>
        <p:spPr>
          <a:xfrm>
            <a:off x="0" y="6510528"/>
            <a:ext cx="12188952" cy="292608"/>
          </a:xfrm>
          <a:prstGeom prst="rect">
            <a:avLst/>
          </a:prstGeom>
          <a:noFill/>
        </p:spPr>
        <p:txBody>
          <a:bodyPr wrap="square">
            <a:spAutoFit/>
          </a:bodyPr>
          <a:lstStyle/>
          <a:p>
            <a:pPr algn="ctr"/>
            <a:r>
              <a:rPr sz="1200" b="0">
                <a:solidFill>
                  <a:srgbClr val="B0C4D8"/>
                </a:solidFill>
              </a:rPr>
              <a:t>SEN4018  ·  Multi-Agent Stock Analysis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